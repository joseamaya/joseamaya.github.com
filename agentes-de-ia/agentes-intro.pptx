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"Buenos días. Soy Miguel Amaya. Hoy vamos a responder tres preguntas: ¿qué es un agente de IA?, ¿cómo funciona por dentro? y ¿cómo se construye? Con código: LangChain y LangGraph, y al final un mapa del resto del ecosistema."
[acum 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"Vengo de construir agentes conversacionales en producción: LangChain, LangGraph, RAG. Llevo tres años en esto. Hoy no hablo de mis proyectos: comparto los fundamentos, para que puedan construir su primer agente."
[acum 1:30]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"Estos son los cuatro tramos de la charla: qué es un agente, cómo funciona, cómo se construye con código, y un mapa del resto del ecosistema. Todo apunta a que puedas construir el tuyo."
"Antes de arrancar: ¿cuántos de ustedes ya construyeron algo con un LLM? Levanten la mano. Esa es la base de todo lo que viene."
[acum 2:10]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"Empecemos abajo. Un modelo de lenguaje es, para nosotros, una función: entra texto, sale texto. No recuerda, no decide, no actúa."
"Piénsalo como un genio encerrado en una habitación: sabe muchísimo, pero no tiene acceso a nada y olvida cada frase apenas la dice. Si le pides la hora, la inventa. Es un cerebro brillante sin manos y sin memoria."
[acum 3:00]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"El primer paso es encadenarlo: un prompt fijo que alimenta al modelo. Eso es una cadena: como una receta fija, los pasos están escritos de antemano."
"Sirve para tareas repetibles —resumir, clasificar, extraer— pero el camino está escrito por ti: no hay decisiones. En el fondo, una cadena es el workflow más simple."
[acum 3:50]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"Aquí está el salto: en un agente, el modelo decide el siguiente paso. Puede responder, o puede pedir una herramienta. Y vuelve a pensar con ese resultado."
"La diferencia entre una cadena y un agente es quién decide el camino: tú o el modelo."
"Regla práctica: si el camino es predecible, quédate en workflow; si el modelo debe decidir, sube a agente. Y empieza por lo más simple."
[acum 4:50]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"Este es el corazón de la charla. El patrón clásico se llama ReAct, de razonar y actuar: el modelo alterna los dos hasta resolver la tarea."
"Piénsalo como un becario con acceso a herramientas: le pides algo, decide si usar la calculadora, buscar en un archivo o preguntar, y con cada resultado vuelve a pensar. Contexto → razona → ¿pide una herramienta? → tu código la ejecuta → el resultado vuelve → repite → cuando ya no pide nada, responde. Es un ciclo, no una línea."
"Aclaración: ReAct es el patrón conceptual. Los modelos modernos no escriben el 'pensamiento' en texto: devuelven la llamada ya estructurada (tool calling nativo). El ciclo es exactamente el mismo."
"Pregunta al público: ¿han visto a un modelo inventar un dato con total seguridad? De eso nos protegen las herramientas."
[acum 5:50]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"Todo agente tiene cuatro piezas: un cerebro (el modelo), unas manos (las herramientas), una memoria (el estado) y unos sentidos (el contexto que le entra en cada turno)."
"A todo eso lo llamamos el arnés, el harness: agente es igual a modelo más arnés. El arnés es todo lo que rodea al bucle —el prompt, las herramientas y el middleware—, y su trabajo es darle al modelo el contexto correcto en el momento correcto."
"Cambia el proveedor, cambia la base de datos, pero estas cuatro se repiten."
[acum 6:50]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 se le presenta al modelo como un contrato: nombre, parámetros y para qué sirve. El modelo no toca tus sistemas: propone una llamada, algo como 'llama a execute_sql con query=...'. La ejecución vive en tu código, bajo tus reglas."
"Esa separación es lo que hace al agente seguro."
"El modelo no 've' tus funciones: recibe su descripción en cada llamada, junto a los mensajes, y responde con una petición estructurada (tool_calls). Por eso una descripción clara es todo."
"Pregunta: ¿a quién le ha pasado pedirle a un chatbot algo que no podía hacer?"
[acum 8:00]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"Por dentro, todo es una lista de mensajes. system (las reglas), user (lo que pide la persona), assistant (lo que dice el modelo, incluidas sus peticiones de herramientas) y tool (lo que devolvió la herramienta)."
"Es como un chat: cada burbuja es un mensaje, y el turno del agente es esa lista creciendo. Los mensajes solo se añaden, nunca se reemplazan: es append-only."
"Y como solo se añade, la lista crece en cada turno: por eso el contexto se llena, se paga, y hay que compactarlo (lo vemos enseguida)."
[acum 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"Veámoslo con un ejemplo: '¿Cuánto vendimos en marzo?'. En cuatro pasos: el modelo no sabe el dato; pide la herramienta; tu código consulta la base de datos; y solo entonces responde."
"Por debajo, el turno es una lista de mensajes que crece: system (las reglas), user (la pregunta), assistant (pide execute_sql), tool (el resultado: 42150) y assistant (la respuesta: 42.150)."
"Y esto no es solo para una tool: si la tarea lo pide, el agente encadena varias en el mismo turno. Como pedirle '¿cuánto es 312.5 × 4.2 y cuántas palabras tiene este texto?': primero llama a una calculadora, recibe 1312.5; luego a un contador, recibe 5; y solo entonces, con ambos resultados, redacta. Dos herramientas, un solo turno, sin que el modelo ejecute nada."
"Conclusión: el modelo solo pidió la consulta; la ejecutó tu código, con tus permisos."
[acum 9:50]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"Si el agente puede repetir, ¿cómo termina? Cuando el modelo ya no pide herramientas. Y hay que ponerle límites: número máximo de iteraciones, tiempo, costo. Un bucle sin freno es un error de diseño, no un bug."
[acum 10:40]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no trae memoria: hay que dársela. Y el contexto es el recurso escaso."
"Funciona como tu memoria: recuerdas la conversación de hoy (corto plazo); y también sabes cosas de una persona de siempre (largo plazo). Son dos memorias distintas."
"Y cuando el historial se hace largo, se resume: eso se llama compactación, compaction. Resumes lo viejo para liberar la ventana sin perder el hilo."
[acum 11:40]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"Estas cuatro palabras se confunden todo el tiempo, así que fijémoslas."
"El contexto —o la ventana— es lo que el modelo ve en un turno: el system, el historial y las reglas. Es finito y se paga. El estado son los mensajes acumulados de la conversación: lo que llevamos en el hilo. La memoria es lo que sobrevive entre turnos: corto plazo (el hilo) y largo plazo (entre hilos). Y el hilo es una conversación con identidad propia, separada de las demás."
"En una frase: el contexto es lo que el modelo ve ahora; el estado, lo que llevamos; la memoria, lo que guardamos."
[acum 12:30]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 la pieza que muchos olvidan: el humano. Un agente serio puede pausar antes de una acción sensible —enviar un correo, ejecutar un pago— y esperar aprobación."
"Con esto cierro la teoría: ya sabes cómo funciona un agente. Ahora, cómo se construye."
[acum 13:10]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"Herramientas concretas. LangChain te da un agente listo en una función. LangGraph te da el control del flujo cuando lo necesitas. Y LangSmith observa."
"Dato 2026: create_react_agent se deprecó; el estándar ahora es create_agent."
"Pregunta: ¿quién ha usado LangChain o LangGraph antes?"
[acum 14:10]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"Un agente completo son cuatro líneas: create_agent(model, tools, system_prompt). Y nada más. La herramienta la escribes con @tool; LangChain se encarga del bucle."
"Y el system_prompt son las reglas: rol y objetivo; reglas y límites; formato y tono; y qué hacer cuando no sabe —no inventar, usar una herramienta o decirlo—."
"Por dentro, create_agent arma un grafo: manda el mensaje al modelo; si pide una herramienta, la ejecuta y le devuelve el resultado; y repite hasta que el modelo responde sin pedir nada."
[acum 15:40]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"La herramienta: un decorador, tipos en los parámetros y un docstring claro. Eso es todo lo que necesita el modelo para usarla bien. Args tipados = contrato; docstring = prompt."
"Y lo que decide cuándo se usa una tool no es su código: es su descripción. Por eso: pocas herramientas bien documentadas, nombres claros y errores útiles. La descripción de las tools es el prompt que más importa."
[acum 16:30]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"Tres ideas. Una: el modelo es una pieza sustituible. openai:gpt-5 es solo una cadena de texto; init_chat_model te deja cambiar de proveedor con una línea, y las content blocks dan un formato común a las salidas."
"Dos: el middleware. Hooks que se enganchan antes y después del modelo, y antes y después de cada tool: gestión de contexto, guardrails (PII), aprobación humana, resiliencia y subagentes. Corre dentro del mismo grafo."
"Tres: la salida. Estructurada con Pydantic (response_format → structured_response) para integrarla con tu sistema, y streaming para ver la respuesta en vivo. Analogía: la salida estructurada es como pedir un formulario relleno en vez de una carta libre."
[acum 17:50]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"Como el modelo propone y tu código ejecuta, la seguridad vive en tu código. Cuatro ideas."
"Uno: mínimo privilegio — las herramientas corren con tus permisos y límites, nunca con los del modelo. Dos: valida los argumentos antes de ejecutar. Tres: prompt injection — el contenido externo, un documento o una web, son datos, no órdenes; no dejes que secuestren al agente. Y cuatro: guardrails para datos sensibles (PII) y aprobación humana en acciones críticas."
"En una frase: el modelo decide; la ejecución y el permiso viven en tu código."
"Analogía: mínimo privilegio es darle a un becario la llave de un cajón, no la del edificio."
[acum 18:50]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"create_agent cubre el 80%. ¿Cuándo bajas a LangGraph? Cuando necesitas control explícito: ramas condicionales, varios agentes, ciclos con reglas propias o interrupciones en puntos exactos. LangChain para arrancar; LangGraph para orquestar."
"LangGraph es un grafo con estado: un estado tipado, nodos (pasos) y aristas que deciden a dónde ir. Añade memoria (checkpointer por hilo, store entre hilos) y el humano en el bucle (pausa, aprueba y reanuda)."
"El detalle de cada pieza —grafo, persistencia, interrupt— merece su propio espacio; aquí quédate con la idea: es la caja de herramientas para cuando el bucle estándar no alcanza."
[acum 20:10]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"Falta la recuperación, el RAG: son las siglas de Retrieval-Augmented Generation, recuperar información y añadirla al contexto del modelo."
"Es como cuando contestas un examen con apuntes: buscas el dato que necesitas y lo usas para responder, en vez de fiarte de la memoria. El agente decide cuándo buscar; y cómo buscar bien y cuándo callar van aparte. Quédate con la idea: responde con tus datos, no con imaginación."
"Por dentro: tus documentos se parten en fragmentos; cada uno se convierte en un vector (embedding) y se guarda en un índice. Ante una pregunta, se buscan los fragmentos más parecidos y se añaden al contexto. El agente decide cuándo buscar; la profundidad de RAG merece su propio espacio."
[acum 21:00]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"Recapitulemos con el plano: un agente completo es un modelo, con instrucciones, herramientas, middleware y memoria. Todo eso junto —el modelo y su arnés— es el agente."
"Lo demás —la recuperación, los canales, la observabilidad— no es el agente: se conecta alrededor."
[acum 22:00]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casi termino la parte de construcción. Falta algo importante: un agente no vive solo."
"Lo que construiste es el núcleo. A su alrededor hay cuatro piezas más, que hoy solo nombro para que las reconozcas: los canales, por donde entra y sale el mensaje; el núcleo, que recibe, junta mensajes seguidos y arma el contexto; la observabilidad, para ver cada turno por dentro; y la evaluación, para medir si el agente acierta."
"Cada una merece su propio espacio. Quédate con los nombres."
[acum 23:20]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"Antes de cerrar, una distinción que confunde mucho: MCP y A2A no son frameworks. Un framework construye y orquesta tu agente; un protocolo es un contrato para conectarlo con el exterior. No compiten: se combinan."
"MCP, Model Context Protocol: es cómo un agente se conecta a herramientas y datos. Piénsalo como el enchufe universal: describes tu herramienta una vez y cualquier agente la usa. A2A, Agent-to-Agent: es cómo un agente habla con otro agente; un idioma y una tarjeta de presentación comunes."
"En una frase: el framework es cómo construyes tu agente; el protocolo, cómo se conecta con lo demás."
[acum 24:20]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"Ya vimos LangChain y LangGraph, pero no son los únicos. El ecosistema se elige por filosofía, no por moda. ¿Equipos con roles? CrewAI. ¿Datos y RAG? LlamaIndex. ¿Tipado y validación? Pydantic AI. ¿Conversación o multi-agente? AutoGen y el Microsoft Agent Framework. ¿En tu nube? ADK, Strands u OpenAI SDK. ¿Código mínimo o TypeScript? smolagents, Mastra o Vercel."
"Y a veces la respuesta correcta no es ningún framework: el SDK del proveedor y código propio."
[acum 25:20]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"Para llevar: un agente es modelo + herramientas + bucle con estado. El modelo propone; tu código ejecuta, bajo tus reglas. Una buena descripción decide cuándo se usa una tool. Empieza con create_agent y baja a LangGraph cuando necesites control. Y el contexto es el recurso escaso."
[acum 26:20]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"Gracias. Ya tienes el mapa para construir tu primer agente."
[acum 27:10]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040880" cy="6858000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040880" y="0"/>
            <a:ext cx="109728" cy="685800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640080"/>
            <a:ext cx="6035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spc="120" kern="0" dirty="0">
                <a:solidFill>
                  <a:srgbClr val="8FB3E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DAY DE COMUNIDADES  ·  GDG PIURA  ·  2026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6126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Agentes de IA:
</a:t>
            </a:r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son, cómo funcionan</a:t>
            </a:r>
            <a:endParaRPr lang="en-US" sz="33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3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cómo construirlos.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731520" y="379476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 un LLM que responde a un agente que actúa. Con LangChain y LangGraph.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49808" y="4892040"/>
            <a:ext cx="1645920" cy="54864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51206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9FB4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&amp; Socio Fundador · Xprende Tech</a:t>
            </a:r>
            <a:endParaRPr lang="en-US" sz="1600" dirty="0"/>
          </a:p>
        </p:txBody>
      </p:sp>
      <p:pic>
        <p:nvPicPr>
          <p:cNvPr id="9" name="Image 0" descr="/home/jamaya/PiuraAI/fundamentos-agentes/assets/img/gdg-log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5989320"/>
            <a:ext cx="1737360" cy="168250"/>
          </a:xfrm>
          <a:prstGeom prst="rect">
            <a:avLst/>
          </a:prstGeom>
        </p:spPr>
      </p:pic>
      <p:pic>
        <p:nvPicPr>
          <p:cNvPr id="10" name="Image 1" descr="/home/jamaya/PiuraAI/fundamentos-agentes/assets/img/cover-agen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726680" y="960120"/>
            <a:ext cx="3520440" cy="47548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726680" y="960120"/>
            <a:ext cx="3520440" cy="4754880"/>
          </a:xfrm>
          <a:prstGeom prst="roundRect">
            <a:avLst>
              <a:gd name="adj" fmla="val 1299"/>
            </a:avLst>
          </a:prstGeom>
          <a:solidFill>
            <a:srgbClr val="FFFFFF">
              <a:alpha val="0"/>
            </a:srgbClr>
          </a:solidFill>
          <a:ln w="38100">
            <a:solidFill>
              <a:srgbClr val="29ABE2"/>
            </a:solidFill>
            <a:prstDash val="solid"/>
          </a:ln>
        </p:spPr>
      </p:sp>
      <p:pic>
        <p:nvPicPr>
          <p:cNvPr id="12" name="Image 2" descr="/home/jamaya/PiuraAI/fundamentos-agentes/assets/img/skyline.png">    </p:cNvPr>
          <p:cNvPicPr>
            <a:picLocks noChangeAspect="1"/>
          </p:cNvPicPr>
          <p:nvPr/>
        </p:nvPicPr>
        <p:blipFill>
          <a:blip r:embed="rId3">
            <a:alphaModFix amt="75000"/>
          </a:blip>
          <a:stretch>
            <a:fillRect/>
          </a:stretch>
        </p:blipFill>
        <p:spPr>
          <a:xfrm>
            <a:off x="7498080" y="5806440"/>
            <a:ext cx="402336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QUIÉN LES HABLA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José Miguel Amaya — 15+ años construyendo software</a:t>
            </a:r>
            <a:endParaRPr lang="en-US" sz="3360" dirty="0"/>
          </a:p>
        </p:txBody>
      </p:sp>
      <p:pic>
        <p:nvPicPr>
          <p:cNvPr id="8" name="Image 0" descr="/home/jamaya/PiuraAI/fundamentos-agentes/assets/img/miguel-squa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58368" y="2514600"/>
            <a:ext cx="2743200" cy="274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2514600"/>
            <a:ext cx="2743200" cy="2743200"/>
          </a:xfrm>
          <a:prstGeom prst="roundRect">
            <a:avLst>
              <a:gd name="adj" fmla="val 1667"/>
            </a:avLst>
          </a:prstGeom>
          <a:solidFill>
            <a:srgbClr val="FFFFFF">
              <a:alpha val="0"/>
            </a:srgbClr>
          </a:solidFill>
          <a:ln w="31750">
            <a:solidFill>
              <a:srgbClr val="29ABE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813048" y="2926080"/>
            <a:ext cx="7720279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CTO y socio fundador de Xprende Tech; fundador de Piura AI y Python Piura.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Construyo agentes conversacionales en producción: LangChain, LangGraph, RAG.</a:t>
            </a:r>
            <a:endParaRPr lang="en-US" sz="1792" dirty="0"/>
          </a:p>
          <a:p>
            <a:pPr marL="342900" indent="-342900">
              <a:lnSpc>
                <a:spcPct val="102000"/>
              </a:lnSpc>
              <a:spcAft>
                <a:spcPts val="800"/>
              </a:spcAft>
              <a:buSzPct val="100000"/>
              <a:buChar char="•"/>
            </a:pPr>
            <a:r>
              <a:rPr lang="en-US" sz="1792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Tres años construyendo agentes conversacionales.</a:t>
            </a:r>
            <a:endParaRPr lang="en-US" sz="1792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RECORRIDO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es, cómo funciona y cómo se construye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9611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48132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Qué es un agente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8132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diferencia con un LLM y con un workflow.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87288" y="21488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87288" y="21488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25032" y="23500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7010248" y="24048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funciona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010248" y="28346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bucle, las herramientas y la memoria.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5836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836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611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48132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empezar a construir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48132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mínimo con LangChain.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87288" y="3520440"/>
            <a:ext cx="5346040" cy="1188720"/>
          </a:xfrm>
          <a:prstGeom prst="roundRect">
            <a:avLst>
              <a:gd name="adj" fmla="val 6154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87288" y="3520440"/>
            <a:ext cx="5346040" cy="54864"/>
          </a:xfrm>
          <a:prstGeom prst="roundRect">
            <a:avLst>
              <a:gd name="adj" fmla="val 50000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25032" y="372160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7010248" y="3776472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Otros frameworks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7010248" y="4206240"/>
            <a:ext cx="43402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mapa del ecosistema y cómo elegir.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120640"/>
            <a:ext cx="10874959" cy="868680"/>
          </a:xfrm>
          <a:prstGeom prst="roundRect">
            <a:avLst>
              <a:gd name="adj" fmla="val 8421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" y="5120640"/>
            <a:ext cx="10234879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 terminar, vas a poder construir un agente y ubicar el resto del ecosistema.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PUNTO DE PARTIDA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LLM es una función de texto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entrada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41648" y="2286000"/>
            <a:ext cx="548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81728" y="2286000"/>
            <a:ext cx="3291840" cy="1005840"/>
          </a:xfrm>
          <a:prstGeom prst="roundRect">
            <a:avLst>
              <a:gd name="adj" fmla="val 7273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81728" y="2286000"/>
            <a:ext cx="3291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texto de salida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RECUERDA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59536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llamada es independiente. Nada persiste entre mensajes.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4314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14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45482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DECIDE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545482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elige pasos: solo produce el texto más probable.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8030261" y="3749040"/>
            <a:ext cx="3503066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30261" y="374904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1429" y="3931920"/>
            <a:ext cx="313730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 ACTÚA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8231429" y="4206240"/>
            <a:ext cx="3137306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puede enviar un correo ni consultar una base de datos.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como un genio brillante… pero encerrado, sin manos y sin memoria.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1 · LA CADENA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Encadenar: un prompt fijo que alimenta al modelo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877824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escribes tú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978554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435754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35754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55210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655210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 texto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755941" y="2377440"/>
            <a:ext cx="457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600" dirty="0"/>
          </a:p>
        </p:txBody>
      </p:sp>
      <p:sp>
        <p:nvSpPr>
          <p:cNvPr id="18" name="Shape 16"/>
          <p:cNvSpPr/>
          <p:nvPr/>
        </p:nvSpPr>
        <p:spPr>
          <a:xfrm>
            <a:off x="8213141" y="2377440"/>
            <a:ext cx="3320186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13141" y="2377440"/>
            <a:ext cx="332018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32597" y="260604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32597" y="3108960"/>
            <a:ext cx="286298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resultado crudo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58368" y="4206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cadena sirve para tareas repetibles: resumir, clasificar, extraer. El camino lo decides tú.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58368" y="4892040"/>
            <a:ext cx="10874959" cy="822960"/>
          </a:xfrm>
          <a:prstGeom prst="roundRect">
            <a:avLst>
              <a:gd name="adj" fmla="val 8889"/>
            </a:avLst>
          </a:prstGeom>
          <a:solidFill>
            <a:srgbClr val="FDF3E3"/>
          </a:solidFill>
          <a:ln w="12700">
            <a:solidFill>
              <a:srgbClr val="F3D9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8408" y="4892040"/>
            <a:ext cx="10234879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Pero el modelo no puede decir: "no sé, mejor busco en la base de datos".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PASO 2 · 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decide el siguiente paso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10874959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24128" y="2194560"/>
            <a:ext cx="10143439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agente es un modelo al que le das herramientas y un bucle: puede responder, o pedir una acción, y vuelve a pensar con el resultado.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3268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6B8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Cadena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93268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escribes tú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3886200"/>
            <a:ext cx="5300320" cy="1371600"/>
          </a:xfrm>
          <a:prstGeom prst="roundRect">
            <a:avLst>
              <a:gd name="adj" fmla="val 533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3886200"/>
            <a:ext cx="530032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7328" y="4069080"/>
            <a:ext cx="475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Agente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6507328" y="4572000"/>
            <a:ext cx="47516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camino lo decide el modelo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58368" y="5440680"/>
            <a:ext cx="10874959" cy="777240"/>
          </a:xfrm>
          <a:prstGeom prst="roundRect">
            <a:avLst>
              <a:gd name="adj" fmla="val 9412"/>
            </a:avLst>
          </a:prstGeom>
          <a:solidFill>
            <a:srgbClr val="131D31"/>
          </a:solidFill>
          <a:ln w="19050">
            <a:solidFill>
              <a:srgbClr val="29ABE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8408" y="5440680"/>
            <a:ext cx="10234879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 práctica: si el camino es predecible, quédate en workflow; si el modelo debe decidir, sube a agente. Empieza por lo más simple.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CORAZÓN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bucle del agente (ReAct)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patrón clásico: razonar y actuar en un ciclo. Hoy el modelo lo hace con tool calling nativo.</a:t>
            </a:r>
            <a:endParaRPr lang="en-US" sz="1300" dirty="0"/>
          </a:p>
        </p:txBody>
      </p:sp>
      <p:pic>
        <p:nvPicPr>
          <p:cNvPr id="9" name="Image 0" descr="/home/jamaya/PiuraAI/fundamentos-agentes/assets/img/diagram-loo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93048" y="2011680"/>
            <a:ext cx="10205600" cy="34747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55778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 un ciclo, no una línea: el modelo decide el paso, la ejecución vive en tu código.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LAS CUATRO PIEZAS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Todo agente tiene: cerebro, manos, memoria y sentidos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88696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Cerebro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8696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Modelo (LLM)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8696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razona y redacta. Intercambiable por configuración.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2282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142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365142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Manos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5142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Herramientas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65142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actúan en el mundo: APIs, base de datos, archivos.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187288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15888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415888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15888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Estado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15888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historial, hechos y checkpoints por conversación.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951747" y="2286000"/>
            <a:ext cx="2581580" cy="2743200"/>
          </a:xfrm>
          <a:prstGeom prst="roundRect">
            <a:avLst>
              <a:gd name="adj" fmla="val 283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80347" y="24688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820A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180347" y="3063240"/>
            <a:ext cx="21243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Sentidos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180347" y="3520440"/>
            <a:ext cx="21243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820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Contexto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180347" y="3886200"/>
            <a:ext cx="21243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entra a la ventana en cada turno.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58368" y="521208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eso lo llamamos el arnés (harness): todo lo que rodea al modelo —prompt, herramientas, middleware— para darle el contexto correcto en el momento correcto.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TOOL CALLING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propone; tu código ejecuta.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toolcall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22593" y="1737360"/>
            <a:ext cx="10746509" cy="38862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715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Esa separación es lo que hace al agente seguro: el modelo propone, tú dispones.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ESTADO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 dentro, todo es una lista de mensajes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0312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0312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5B6B8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0976" y="210312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system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18688" y="210312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reglas del agente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292608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8368" y="292608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292608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user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218688" y="292608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pide la persona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374904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74904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50976" y="374904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assistant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18688" y="374904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dice el modelo (y sus peticiones de tools)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58368" y="45720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8368" y="4572000"/>
            <a:ext cx="82296" cy="658368"/>
          </a:xfrm>
          <a:prstGeom prst="roundRect">
            <a:avLst>
              <a:gd name="adj" fmla="val 44444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0976" y="4572000"/>
            <a:ext cx="2194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tool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3218688" y="4572000"/>
            <a:ext cx="8131759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devolvió la herramienta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8368" y="553212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turno del agente es esa lista creciendo (append-only): mensaje a mensaje, tool a tool. Por eso el contexto se llena y se paga.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UN TURNO, POR DENTRO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658368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«¿Cuánto vendimos en marzo?»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57276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no sabe el dato: pide la herramienta, tu código consulta, y solo entonces responde.</a:t>
            </a:r>
            <a:endParaRPr lang="en-US" sz="1250" dirty="0"/>
          </a:p>
        </p:txBody>
      </p:sp>
      <p:pic>
        <p:nvPicPr>
          <p:cNvPr id="9" name="Image 0" descr="/home/jamaya/PiuraAI/fundamentos-agentes/assets/img/diagram-tur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37520" y="1965960"/>
            <a:ext cx="9916654" cy="39776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solo pidió la consulta; la ejecutó tu código, con tus permisos. Y si hace falta, encadena varias tools en el mismo turno.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FRENO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bucle necesita un freno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¿Cuándo termina?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32688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el modelo ya no pide herramientas. Ese es el criterio por defecto.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356506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56506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30826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Límites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630826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Máximo de iteraciones, tiempo y costo. Un bucle sin freno es un error de diseño.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054645" y="2286000"/>
            <a:ext cx="3478682" cy="256032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54645" y="228600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8965" y="2606040"/>
            <a:ext cx="293004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Errores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8965" y="3383280"/>
            <a:ext cx="2930042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una tool falla, el resultado vuelve como mensaje y el modelo puede corregir.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Predecible o no, el agente siempre debe poder parar.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EL RECURSO ESCASO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Cómo recuerda un agente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Ventana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finito y se paga. Lo que no entra, no lo sabe.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Historial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 guarda la conversación y se reenvía en cada turno.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Corto plazo (el hilo)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el estado de la conversación: continuar la charla y reanudar tras una pausa.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131D31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Largo plazo (entre hilos)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A9BA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Guarda hechos y preferencias que cruzan conversaciones.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Dos memorias: la del hilo (corto plazo) y la de entre hilos (largo plazo). Y cuando el contexto crece, se compacta (compaction).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LAS PALABRAS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Contexto, estado y memoria no son lo mismo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Contexto (ventana)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696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el modelo ve en un turno: system, historial y reglas. Es finito y se paga.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42282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2282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142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65142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mensajes acumulados de la conversación: lo que llevamos en el hilo.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87288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187288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15888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Memoria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415888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 que sobrevive entre turnos: corto plazo (el hilo) y largo plazo (entre hilos).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951747" y="2286000"/>
            <a:ext cx="2581580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951747" y="2286000"/>
            <a:ext cx="258158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80347" y="2514600"/>
            <a:ext cx="21243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Hilo (thread)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180347" y="3200400"/>
            <a:ext cx="21243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conversación con identidad propia, separada de las demás por su id.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58368" y="5212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contexto es lo que el modelo ve ahora; el estado, lo que llevamos; la memoria, lo que guardamos.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CÓMO FUNCIONA · LA PERSONA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humano también está en el bucle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decide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85953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quiere enviar un correo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03420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49140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9140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9257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 pausa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9257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antes de la acción sensible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867248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6324448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25616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Tú decides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525616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apruebas, editas o rechazas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00287" y="2377440"/>
            <a:ext cx="4572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157487" y="2377440"/>
            <a:ext cx="237584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57487" y="2377440"/>
            <a:ext cx="2375840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358655" y="2606040"/>
            <a:ext cx="197350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Continúa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9358655" y="3200400"/>
            <a:ext cx="1973504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tu decisión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" y="443484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8408" y="443484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 esto cierro la teoría: ya sabes cómo funciona un agente. Ahora, cómo se construye.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STACK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LangChain, LangGraph y LangSmith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LangChain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932688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con poco código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932688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en una función: create_agent. Mil integraciones de modelos y herramientas.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356506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6506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0826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630826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2245B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control explícito del flujo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630826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Cuando lo necesitas: estado, ciclos, persistencia, interrupciones.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8054645" y="2194560"/>
            <a:ext cx="3478682" cy="246888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54645" y="2194560"/>
            <a:ext cx="3478682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328965" y="2423160"/>
            <a:ext cx="293004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LangSmith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328965" y="2971800"/>
            <a:ext cx="293004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4FA82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 observabilidad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328965" y="3337560"/>
            <a:ext cx="2930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paso, cada tool y cada token. Depurar y evaluar.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58368" y="51206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Dato 2026: create_react_agent se deprecó; el estándar ahora es create_agent.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EL MÍNIMO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mínimo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 = create_agent(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model=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tools=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[...],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system_prompt=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"...",
</a:t>
            </a:r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Rol y objetivo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Quién es y qué debe lograr.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Reglas y límites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Qué puede y qué no; cuándo pausar. No inventar: usar una tool o decirlo.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Formato y tono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responde: idioma, longitud y estilo.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arma el grafo por dentro; el system_prompt son las reglas del agente.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HERRAMIENTAS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Una tool: decorador, tipos y docstring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@tool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def calculator(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a: float, b: float,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operation: Literal["add", "multiply", ...],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 -&gt; float: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"""Perform arithmetic on two numbers."""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return a * b  # ...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4884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Nombre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514600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 es descriptivo, el modelo lo entiende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5584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Tipos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721608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argumentos son un contrato validado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5156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5156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62856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Docstring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28616"/>
            <a:ext cx="4657039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prompt que decide SI y COMO usarla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58368" y="56235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 que decide cuándo se usa una tool es su descripción, no su código. Pocas tools, nombres claros y errores útiles.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LANGCHAIN V1 · CONFIGURACIÓN Y SALIDA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sustituible, middleware y salida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011680"/>
            <a:ext cx="5486400" cy="3474720"/>
          </a:xfrm>
          <a:prstGeom prst="roundRect">
            <a:avLst>
              <a:gd name="adj" fmla="val 2105"/>
            </a:avLst>
          </a:prstGeom>
          <a:solidFill>
            <a:srgbClr val="0E1626"/>
          </a:solidFill>
          <a:ln w="12700">
            <a:solidFill>
              <a:srgbClr val="22304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78408" y="2194560"/>
            <a:ext cx="48463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=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"openai:gpt-5"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# o anthropic:..., google:..., ollama:...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= 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create_agent(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model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=model,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tools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=[...],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middleware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=[...],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  response_format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7AC943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=Answer,
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D7E2F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)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19088" y="2011680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19088" y="2011680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3408" y="2130552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Modelo sustituible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93408" y="2487168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Cambia de proveedor con una línea: init_chat_model unifica la interfaz, y las content blocks dan un formato común a texto, imágenes y más.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419088" y="3218688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19088" y="3218688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93408" y="3337560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Middleware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693408" y="3694176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Hooks antes y después del modelo, y de cada tool: contexto, guardrails (PII), aprobación, resiliencia y subagentes. No es un runtime aparte.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419088" y="4425696"/>
            <a:ext cx="5114239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19088" y="4425696"/>
            <a:ext cx="73152" cy="109728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93408" y="4544568"/>
            <a:ext cx="465703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Salida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93408" y="4901184"/>
            <a:ext cx="4657039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Estructurada (Pydantic, response_format → structured_response) para integrar; y streaming para ver la respuesta en vivo.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8368" y="58064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se cambia con una línea; el middleware extiende el bucle; la salida se adapta a tu sistema.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SEGURIDAD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propone, tú dispones</a:t>
            </a:r>
            <a:endParaRPr lang="en-US" sz="3360" dirty="0"/>
          </a:p>
        </p:txBody>
      </p:sp>
      <p:sp>
        <p:nvSpPr>
          <p:cNvPr id="8" name="Shape 6"/>
          <p:cNvSpPr/>
          <p:nvPr/>
        </p:nvSpPr>
        <p:spPr>
          <a:xfrm>
            <a:off x="658368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58368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Mínimo privilegio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932688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 tools corren con tus permisos y tus límites, nunca con los del modelo.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05576" y="219456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205576" y="219456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79896" y="234086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Validación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79896" y="272491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 los argumentos antes de ejecutar: el modelo puede equivocarse.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58368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2688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 injection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932688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contenido externo (documentos, web) son datos, no órdenes.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05576" y="3474720"/>
            <a:ext cx="5327752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05576" y="3474720"/>
            <a:ext cx="73152" cy="1143000"/>
          </a:xfrm>
          <a:prstGeom prst="roundRect">
            <a:avLst>
              <a:gd name="adj" fmla="val 500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9896" y="3621024"/>
            <a:ext cx="4870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Guardrails y humano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6479896" y="4005072"/>
            <a:ext cx="4870552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Middleware para datos sensibles (PII) y aprobación en acciones críticas.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8368" y="516636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modelo decide; la ejecución y el permiso viven en tu código.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21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LANGGRAPH · CONTROL EXPLÍCITO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LangGraph: control cuando lo necesitas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langgrap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80528" y="1874520"/>
            <a:ext cx="10030639" cy="4023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598932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create_agent cubre el 80%; baja a LangGraph cuando necesites este control. El detalle de cada pieza merece su propio espacio.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 LA PIEZA ESTRELLA · RAG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recuperación: responder con tus datos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ra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72192" y="1737360"/>
            <a:ext cx="9847311" cy="3200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58368" y="5074920"/>
            <a:ext cx="10874959" cy="1051560"/>
          </a:xfrm>
          <a:prstGeom prst="roundRect">
            <a:avLst>
              <a:gd name="adj" fmla="val 6957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78408" y="5074920"/>
            <a:ext cx="10234879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La recuperación conecta al agente con tus datos: fragmentas los documentos, los guardas como embeddings en un índice y traes los fragmentos más parecidos. Cómo buscar bien merece su propio espacio.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CONSTRUIR · EL PLANO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completo, de una pieza</a:t>
            </a:r>
            <a:endParaRPr lang="en-US" sz="3360" dirty="0"/>
          </a:p>
        </p:txBody>
      </p:sp>
      <p:pic>
        <p:nvPicPr>
          <p:cNvPr id="8" name="Image 0" descr="/home/jamaya/PiuraAI/fundamentos-agentes/assets/img/diagram-bluepri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109121" y="1828800"/>
            <a:ext cx="9973452" cy="41148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58368" y="60350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Ese es el agente: el modelo y su arnés (instrucciones, herramientas, middleware y memoria). Lo demás —RAG, canales, observabilidad— se conecta alrededor.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ALREDEDOR DEL AGENTE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El agente no vive solo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tienes el núcleo: un modelo que decide, con herramientas, memoria y un lazo humano. A su alrededor hay cuatro piezas más; hoy solo las nombramos.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32688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Canales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32688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dónde entra y sale el mensaje: WhatsApp, Telegram, web. Cada canal solo traduce.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05576" y="242316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05576" y="242316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79896" y="262432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Núcleo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79896" y="308152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 pieza que recibe, junta mensajes seguidos, guarda y arma el contexto antes de pensar.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32688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Observabilidad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932688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cada turno por dentro: qué nodo corrió, qué herramienta se llamó, cuántos tokens.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05576" y="3840480"/>
            <a:ext cx="5327752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05576" y="3840480"/>
            <a:ext cx="5327752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79896" y="4041648"/>
            <a:ext cx="47791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Evaluación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79896" y="4498848"/>
            <a:ext cx="477911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Medir si el agente acierta: ¿eligió bien la herramienta?, ¿la respuesta salió de los datos?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658368" y="534924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Cuatro nombres para reconocerlos; cada uno merece su propio espacio.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PROTOCOLOS · ESTÁNDARES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 y A2A no son frameworks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8308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framework construye y orquesta tu agente. Un protocolo es un contrato para conectarlo con el exterior. No compiten: se combinan.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9BD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MCP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5097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Context Protocol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95097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se conecta a herramientas y datos. El enchufe universal: describes la tool una vez y cualquier agente la usa.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233008" y="2514600"/>
            <a:ext cx="530032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33008" y="2514600"/>
            <a:ext cx="5300320" cy="73152"/>
          </a:xfrm>
          <a:prstGeom prst="roundRect">
            <a:avLst>
              <a:gd name="adj" fmla="val 37500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5616" y="2743200"/>
            <a:ext cx="47151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4FA82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A2A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525616" y="3310128"/>
            <a:ext cx="471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3A5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Agent-to-Agent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25616" y="3675888"/>
            <a:ext cx="4715104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Cómo un agente habla con otro agente. Un idioma y una tarjeta de presentación comunes entre agentes.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8368" y="5166360"/>
            <a:ext cx="10874959" cy="731520"/>
          </a:xfrm>
          <a:prstGeom prst="roundRect">
            <a:avLst>
              <a:gd name="adj" fmla="val 10000"/>
            </a:avLst>
          </a:prstGeom>
          <a:solidFill>
            <a:srgbClr val="EAF4FC"/>
          </a:solidFill>
          <a:ln w="12700">
            <a:solidFill>
              <a:srgbClr val="BFE0F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8408" y="5166360"/>
            <a:ext cx="10234879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Framework = cómo construyes tu agente. Protocolo = cómo se conecta con lo demás.</a:t>
            </a:r>
            <a:endParaRPr lang="en-US" sz="14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DFE6F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85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1E9BD7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EL ECOSISTEMA · 2026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Existen más frameworks: elige por filosofía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73736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Ya viste LangChain y LangGraph. El resto se elige por el problema, no por la moda.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58368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4FA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77824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y equipos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CrewAI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44314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4314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D9820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63770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Datos y RAG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63770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LlamaIndex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030261" y="219456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30261" y="219456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49717" y="234086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Tipado y validación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49717" y="267004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Pydantic AI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58368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Conversación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77824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AutoGen · Microsoft Agent Framework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344314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14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2245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63770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 nube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563770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ADK · Strands · OpenAI SDK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30261" y="3200400"/>
            <a:ext cx="3503066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FE6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0261" y="3200400"/>
            <a:ext cx="3503066" cy="64008"/>
          </a:xfrm>
          <a:prstGeom prst="roundRect">
            <a:avLst>
              <a:gd name="adj" fmla="val 42857"/>
            </a:avLst>
          </a:prstGeom>
          <a:solidFill>
            <a:srgbClr val="1E9B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49717" y="3346704"/>
            <a:ext cx="306415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B3A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Mínimo y TypeScript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49717" y="3675888"/>
            <a:ext cx="306415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0F1B3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smolagents · Mastra · Vercel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58368" y="4572000"/>
            <a:ext cx="1087495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45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 a veces la respuesta es ningún framework: el SDK del proveedor y código propio.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6473952"/>
            <a:ext cx="10874959" cy="10973"/>
          </a:xfrm>
          <a:prstGeom prst="rect">
            <a:avLst/>
          </a:prstGeom>
          <a:solidFill>
            <a:srgbClr val="2230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8368" y="6528816"/>
            <a:ext cx="8686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Agentes de IA  ·  José Miguel Amaya  ·  Full Day de Comunidades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10618927" y="65288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C8AA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27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spc="160" kern="0" dirty="0">
                <a:solidFill>
                  <a:srgbClr val="29ABE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PARA LLEVAR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58368" y="731520"/>
            <a:ext cx="10874959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36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Cinco ideas</a:t>
            </a:r>
            <a:endParaRPr lang="en-US" sz="3360" dirty="0"/>
          </a:p>
        </p:txBody>
      </p:sp>
      <p:sp>
        <p:nvSpPr>
          <p:cNvPr id="8" name="Text 6"/>
          <p:cNvSpPr/>
          <p:nvPr/>
        </p:nvSpPr>
        <p:spPr>
          <a:xfrm>
            <a:off x="658368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389888" y="196596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 agente = modelo + herramientas + un bucle con estado.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58368" y="27432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1389888" y="274320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modelo propone; tu código ejecuta, bajo tus reglas.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" y="35204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buena descripción decide cuándo se usa una tool.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58368" y="429768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389888" y="429768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Empieza con create_agent; baja a LangGraph cuando necesites control.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58368" y="50749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5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1389888" y="5074920"/>
            <a:ext cx="10051999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DCE6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contexto es el recurso escaso: memoria, checkpoints y resúmenes.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9ABE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1965960"/>
            <a:ext cx="10874959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29ABE2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Gracias.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58368" y="3063240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Ya tienes el mapa para construir tu primer agente.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611880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B3E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Gracias a GDG Piura por la invitación.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58368" y="3977640"/>
            <a:ext cx="2743200" cy="45720"/>
          </a:xfrm>
          <a:prstGeom prst="rect">
            <a:avLst/>
          </a:prstGeom>
          <a:solidFill>
            <a:srgbClr val="2A3B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8368" y="4160520"/>
            <a:ext cx="10874959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José Miguel Amaya Camacho
</a:t>
            </a:r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9ABE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linkedin.com/in/miguelamaya99   ·   github.com/joseamaya   ·   joseamaya.github.io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Piura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Agentes de IA: qué son, cómo funcionan y cómo construirlos</dc:title>
  <dc:subject>PptxGenJS Presentation</dc:subject>
  <dc:creator>José Miguel Amaya Camacho</dc:creator>
  <cp:lastModifiedBy>José Miguel Amaya Camacho</cp:lastModifiedBy>
  <cp:revision>1</cp:revision>
  <dcterms:created xsi:type="dcterms:W3CDTF">2026-10-09T01:10:03Z</dcterms:created>
  <dcterms:modified xsi:type="dcterms:W3CDTF">2026-10-09T01:10:03Z</dcterms:modified>
</cp:coreProperties>
</file>