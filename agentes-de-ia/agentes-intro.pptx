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"Buenos días. Soy Miguel Amaya. Hoy vamos a responder tres preguntas: ¿qué es un agente de IA?, ¿cómo funciona por dentro? y ¿cómo se construye? Con código: LangChain y LangGraph, y al final un mapa del resto del ecosistema."
[acum 0:40]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"Vengo de construir agentes conversacionales en producción: LangChain, LangGraph, RAG. Pero hoy no hablo de mis proyectos: hablo de la base, para que al salir entiendan qué hay debajo de la palabra 'agente'."
[acum 1:30]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"Estos son los cuatro tramos de la charla: qué es un agente, cómo funciona, cómo se construye con código, y un mapa del resto del ecosistema. Todo apunta a que puedas construir el tuyo."
"Antes de arrancar: ¿cuántos de ustedes ya construyeron algo con un LLM? Levanten la mano. Esa es la base de todo lo que viene."
[acum 2:10]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"Empecemos abajo. Un modelo de lenguaje es, para nosotros, una función: entra texto, sale texto. No recuerda, no decide, no actúa."
"Piénsalo como un genio encerrado en una habitación: sabe muchísimo, pero no tiene acceso a nada y olvida cada frase apenas la dice. Si le pides la hora, la inventa. Es un cerebro brillante sin manos y sin memoria."
[acum 3:00]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"El primer paso es encadenarlo: un prompt fijo que alimenta al modelo. Eso es una cadena: como una receta fija, los pasos están escritos de antemano."
"Sirve para tareas repetibles —resumir, clasificar, extraer— pero el camino está escrito por ti: no hay decisiones. En el fondo, una cadena es el workflow más simple."
[acum 3:50]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"Aquí está el salto: en un agente, el modelo decide el siguiente paso. Puede responder, o puede pedir una herramienta. Y vuelve a pensar con ese resultado."
"La diferencia entre una cadena y un agente es quién decide el camino: tú o el modelo."
"Regla práctica: si el camino es predecible, quédate en workflow; si el modelo debe decidir, sube a agente. Y empieza por lo más simple."
[acum 4:50]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"Este es el corazón de la charla. El patrón clásico se llama ReAct, de razonar y actuar: el modelo alterna los dos hasta resolver la tarea."
"Piénsalo como un becario con acceso a herramientas: le pides algo, decide si usar la calculadora, buscar en un archivo o preguntar, y con cada resultado vuelve a pensar. Contexto → razona → ¿pide una herramienta? → tu código la ejecuta → el resultado vuelve → repite → cuando ya no pide nada, responde. Es un ciclo, no una línea."
"Aclaración: ReAct es el patrón conceptual. Los modelos modernos no escriben el 'pensamiento' en texto: devuelven la llamada ya estructurada (tool calling nativo). El ciclo es exactamente el mismo."
"Pregunta al público: ¿han visto a un modelo inventar un dato con total seguridad? De eso nos protegen las herramientas."
[acum 5:50]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"Todo agente tiene cuatro piezas: un cerebro (el modelo), unas manos (las herramientas), una memoria (el estado) y unos sentidos (el contexto que le entra en cada turno)."
"A todo eso lo llamamos el arnés, el harness: agente es igual a modelo más arnés. El arnés es todo lo que rodea al bucle —el prompt, las herramientas y el middleware—, y su trabajo es darle al modelo el contexto correcto en el momento correcto."
"Cambia el proveedor, cambia la base de datos, pero estas cuatro se repiten."
[acum 6:50]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"La herramienta se le presenta al modelo como un contrato: nombre, parámetros y para qué sirve. El modelo no toca tus sistemas: propone una llamada, algo como 'llama a execute_sql con query=...'. La ejecución vive en tu código, bajo tus reglas."
"Esa separación es lo que hace al agente seguro."
"El modelo no 've' tus funciones: recibe su descripción en cada llamada, junto a los mensajes, y responde con una petición estructurada (tool_calls). Por eso una descripción clara es todo."
"Pregunta: ¿a quién le ha pasado pedirle a un chatbot algo que no podía hacer?"
[acum 8:00]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"Por dentro, todo es una lista de mensajes. system (las reglas), user (lo que pide la persona), assistant (lo que dice el modelo, incluidas sus peticiones de herramientas) y tool (lo que devolvió la herramienta)."
"Es como un chat: cada burbuja es un mensaje, y el turno del agente es esa lista creciendo. Los mensajes solo se añaden, nunca se reemplazan: es append-only."
"Y como solo se añade, la lista crece en cada turno: por eso el contexto se llena, se paga, y hay que compactarlo (lo vemos enseguida)."
[acum 8:50]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"Veámoslo con un ejemplo: '¿Cuánto vendimos en marzo?'. En cuatro pasos: el modelo no sabe el dato; pide la herramienta; tu código consulta la base de datos; y solo entonces responde."
"Abajo está el turno por dentro, como lista de mensajes: system (las reglas), user (la pregunta), assistant (pide execute_sql), tool (el resultado: 42150) y assistant (la respuesta: 42.150)."
"Y esto no es solo para una tool: si la tarea lo pide, el agente encadena varias en el mismo turno. Como pedirle '¿cuánto es 312.5 × 4.2 y cuántas palabras tiene este texto?': primero llama a una calculadora, recibe 1312.5; luego a un contador, recibe 5; y solo entonces, con ambos resultados, redacta. Dos herramientas, un solo turno, sin que el modelo ejecute nada."
"Conclusión: el modelo solo pidió la consulta; la ejecutó tu código, con tus permisos."
[acum 9:50]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"Si el agente puede repetir, ¿cómo termina? Cuando el modelo ya no pide herramientas. Y hay que ponerle límites: número máximo de iteraciones, tiempo, costo. Un bucle sin freno es un error de diseño, no un bug."
[acum 10:40]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"Un agente no trae memoria: hay que dársela. Y el contexto es el recurso escaso."
"Funciona como tu memoria: recuerdas la conversación de hoy (corto plazo); y también sabes cosas de una persona de siempre (largo plazo). Son dos memorias distintas."
"Y cuando el historial se hace largo, se resume: eso se llama compactación, compaction. Resumes lo viejo para liberar la ventana sin perder el hilo."
[acum 11:40]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"Estas cuatro palabras se confunden todo el tiempo, así que fijémoslas."
"El contexto —o la ventana— es lo que el modelo ve en un turno: el system, el historial y las reglas. Es finito y se paga. El estado son los mensajes acumulados de la conversación: lo que llevamos en el hilo. La memoria es lo que sobrevive entre turnos: corto plazo (el hilo) y largo plazo (entre hilos). Y el hilo es una conversación con identidad propia, separada de las demás."
"En una frase: el contexto es lo que el modelo ve ahora; el estado, lo que llevamos; la memoria, lo que guardamos."
[acum 12:30]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"Y la pieza que muchos olvidan: el humano. Un agente serio puede pausar antes de una acción sensible —enviar un correo, ejecutar un pago— y esperar aprobación."
"Con esto cierro la teoría: ya sabes cómo funciona un agente. Ahora, cómo se construye."
[acum 13:10]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"Herramientas concretas. LangChain te da un agente listo en una función. LangGraph te da el control del flujo cuando lo necesitas. Y LangSmith observa."
"Dato 2026: create_react_agent se deprecó; el estándar ahora es create_agent."
"Pregunta: ¿quién ha usado LangChain o LangGraph antes?"
[acum 14:10]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"Un agente completo son cuatro líneas. create_agent(model, tools, system_prompt). Y nada más. La herramienta la escribes con @tool. LangChain se encarga del bucle."
"Por dentro construye un grafo: manda el mensaje al modelo; si pide una herramienta, la ejecuta y le devuelve el resultado; y repite hasta que el modelo responde sin pedir nada."
[acum 15:10]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"El agente necesita reglas. Eso es el system prompt: quién es, qué debe lograr, qué puede y qué no, y cómo responder."
"Cuatro cosas: rol y objetivo; reglas y límites; formato y tono; y qué hacer cuando no sabe —no inventar, usar una herramienta o decirlo—."
"El system prompt define el comportamiento; las descripciones de las tools definen cuándo usarlas. Son dos prompts distintos, y ambos importan."
[acum 16:10]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"La herramienta: un decorador, tipos en los parámetros y un docstring claro. Eso es todo lo que necesita el modelo para usarla bien. Args tipados = contrato; docstring = prompt."
"Y lo que decide cuándo se usa una tool no es su código: es su descripción. Por eso: pocas herramientas bien documentadas, nombres claros y errores útiles. La descripción de las tools es el prompt que más importa."
[acum 17:00]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"Dos ideas. Una: el modelo es una pieza sustituible. openai:gpt-5 es solo una cadena de texto; init_chat_model te deja cambiar de proveedor con una línea, y las content blocks dan un formato común a las salidas (texto, imágenes y más)."
"Dos: el middleware. Son hooks que se enganchan antes y después del modelo, y antes y después de cada tool, sin tocar el bucle. Vienen en categorías: contexto (resumir, memorizar), guardrails (detectar y redactar datos sensibles como un correo, PII), aprobación humana, resiliencia (reintentos, fallbacks y límites) y planificación con subagentes. No es un runtime aparte: corre dentro del mismo grafo compilado."
"Analogía: el middleware es como el control de calidad de una línea de montaje: revisa lo que entra y sale sin cambiar la máquina."
[acum 18:40]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"Dos detalles que hacen al agente usable. Uno: salida estructurada. Con Pydantic, el modelo devuelve un objeto validado en vez de texto suelto; se activa con response_format y el resultado queda en structured_response. Clave para integrarlo con tu sistema."
"Dos: streaming. Ver la respuesta mientras se escribe mejora la experiencia y la latencia percibida, y se activa igual de simple."
"Analogía: la salida estructurada es como pedir un formulario relleno en vez de una carta libre: tu sistema la lee sin ambigüedad."
[acum 19:30]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"Como el modelo propone y tu código ejecuta, la seguridad vive en tu código. Cuatro ideas."
"Uno: mínimo privilegio — las herramientas corren con tus permisos y límites, nunca con los del modelo. Dos: valida los argumentos antes de ejecutar. Tres: prompt injection — el contenido externo, un documento o una web, son datos, no órdenes; no dejes que secuestren al agente. Y cuatro: guardrails para datos sensibles (PII) y aprobación humana en acciones críticas."
"En una frase: el modelo decide; la ejecución y el permiso viven en tu código."
"Analogía: mínimo privilegio es darle a un becario la llave de un cajón, no la del edificio."
[acum 20:30]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"create_agent cubre el 80%. ¿Cuándo bajas a LangGraph? Cuando necesitas control explícito del flujo: ramas condicionales, varios agentes, ciclos con reglas propias, o interrupciones en puntos exactos. LangChain para arrancar; LangGraph para orquestar."
"Y en medio hay una pieza que conviene conocer: Deep Agents, create_deep_agent. Es un arnés ya prearmado con planificación, sistema de archivos y subagentes, para tareas largas. Solo lo nombro; existe y se apoya en lo mismo que ya viste."
[acum 21:10]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"Un grafo: un estado (un diccionario tipado), nodos (funciones que transforman el estado) y aristas que deciden a dónde ir. Es como un diagrama de flujo, pero donde las flechas se deciden solas."
"Las aristas condicionales son la clave: el flujo no es fijo, depende del estado."
[acum 22:10]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"Le agregas un checkpointer y el agente recuerda entre turnos: guarda el hilo. El store, en cambio, guarda los hechos que cruzan conversaciones. Le das un thread_id y separa conversaciones. Y ojo con la distinción: el thread_id identifica la conversación; el context lleva los datos por ejecución, como el user_id o una bandera de configuración."
"La memoria en RAM se pierde al reiniciar el proceso; para persistir de verdad se usa SQLite en desarrollo y Postgres, o Mongo, en producción."
"Analogía: el checkpointer es como guardar la partida: cierras y continúas después por donde ibas."
[acum 23:00]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"Para el humano: con HumanInTheLoopMiddleware o con interrupt, el grafo se pausa antes de una herramienta marcada como sensible. Tú apruebas, rechazas o editas —o respondes—, y con Command(resume=...) continúa."
"El estado se guardó, así que la pausa puede durar horas."
[acum 23:50]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"Falta la recuperación, el RAG: son las siglas de Retrieval-Augmented Generation, recuperar información y añadirla al contexto del modelo."
"Es como cuando contestas un examen con apuntes: buscas el dato que necesitas y lo usas para responder, en vez de fiarte de la memoria. El agente decide cuándo buscar; y cómo buscar bien y cuándo callar van aparte. Quédate con la idea: responde con tus datos, no con imaginación."
"Por dentro: tus documentos se parten en fragmentos; cada uno se convierte en un vector (embedding) y se guarda en un índice. Ante una pregunta, se buscan los fragmentos más parecidos y se añaden al contexto. El agente decide cuándo buscar; la profundidad de RAG merece su propio espacio."
[acum 24:40]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"Recapitulemos con el plano: un agente completo es un modelo, con instrucciones, herramientas, middleware y memoria. Todo eso junto —el modelo y su arnés— es el agente."
"Lo demás —la recuperación, los canales, la observabilidad— no es el agente: se conecta alrededor."
[acum 25:40]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"Ya casi termino la parte de construcción. Falta algo importante: un agente no vive solo."
"Lo que construiste es el núcleo. A su alrededor hay cuatro piezas más, que hoy solo nombro para que las reconozcas: los canales, por donde entra y sale el mensaje; el núcleo, que recibe, junta mensajes seguidos y arma el contexto; la observabilidad, para ver cada turno por dentro; y la evaluación, para medir si el agente acierta."
"Cada una merece su propio espacio. Quédate con los nombres."
[acum 27:00]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"Antes de cerrar, una distinción que confunde mucho: MCP y A2A no son frameworks. Un framework construye y orquesta tu agente; un protocolo es un contrato para conectarlo con el exterior. No compiten: se combinan."
"MCP, Model Context Protocol: es cómo un agente se conecta a herramientas y datos. Piénsalo como el enchufe universal: describes tu herramienta una vez y cualquier agente la usa. A2A, Agent-to-Agent: es cómo un agente habla con otro agente; un idioma y una tarjeta de presentación comunes."
"En una frase: el framework es cómo construyes tu agente; el protocolo, cómo se conecta con lo demás."
[acum 28:00]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"Ya vimos LangChain y LangGraph, pero no son los únicos. El ecosistema se elige por filosofía, no por moda. ¿Equipos con roles? CrewAI. ¿Datos y RAG? LlamaIndex. ¿Tipado y validación? Pydantic AI. ¿Conversación o multi-agente? AutoGen y el Microsoft Agent Framework. ¿En tu nube? ADK, Strands u OpenAI SDK. ¿Código mínimo o TypeScript? smolagents, Mastra o Vercel."
"Y a veces la respuesta correcta no es ningún framework: el SDK del proveedor y código propio."
[acum 29:00]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"Para llevar: un agente es modelo + herramientas + bucle con estado. El modelo propone; tu código ejecuta, bajo tus reglas. Una buena descripción decide cuándo se usa una tool. Empieza con create_agent y baja a LangGraph cuando necesites control. Y el contexto es el recurso escaso."
[acum 30:00]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"Gracias. Ya tienes el mapa para construir tu primer agente."
[acum 30:50]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040880" cy="6858000"/>
          </a:xfrm>
          <a:prstGeom prst="rect">
            <a:avLst/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40880" y="0"/>
            <a:ext cx="109728" cy="6858000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008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FB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FULL DAY DE COMUNIDADES  ·  GDG PIURA  ·  2026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6126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Agentes de IA:
</a:t>
            </a:r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29AB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qué son, cómo funcionan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29AB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 cómo construirlos.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E2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un LLM que responde a un agente que actúa. Con LangChain y LangGraph.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9808" y="4892040"/>
            <a:ext cx="1645920" cy="54864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12064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José Miguel Amaya Camacho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B4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 &amp; Socio Fundador · Xprende Tech</a:t>
            </a:r>
            <a:endParaRPr lang="en-US" sz="1600" dirty="0"/>
          </a:p>
        </p:txBody>
      </p:sp>
      <p:pic>
        <p:nvPicPr>
          <p:cNvPr id="9" name="Image 0" descr="/home/jamaya/PiuraAI/fundamentos-agentes/assets/img/gdg-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5989320"/>
            <a:ext cx="1737360" cy="168250"/>
          </a:xfrm>
          <a:prstGeom prst="rect">
            <a:avLst/>
          </a:prstGeom>
        </p:spPr>
      </p:pic>
      <p:pic>
        <p:nvPicPr>
          <p:cNvPr id="10" name="Image 1" descr="/home/jamaya/PiuraAI/fundamentos-agentes/assets/img/cover-agen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26680" y="960120"/>
            <a:ext cx="3520440" cy="47548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726680" y="960120"/>
            <a:ext cx="3520440" cy="4754880"/>
          </a:xfrm>
          <a:prstGeom prst="roundRect">
            <a:avLst>
              <a:gd name="adj" fmla="val 1299"/>
            </a:avLst>
          </a:prstGeom>
          <a:solidFill>
            <a:srgbClr val="FFFFFF">
              <a:alpha val="0"/>
            </a:srgbClr>
          </a:solidFill>
          <a:ln w="38100">
            <a:solidFill>
              <a:srgbClr val="29ABE2"/>
            </a:solidFill>
            <a:prstDash val="solid"/>
          </a:ln>
        </p:spPr>
      </p:sp>
      <p:pic>
        <p:nvPicPr>
          <p:cNvPr id="12" name="Image 2" descr="/home/jamaya/PiuraAI/fundamentos-agentes/assets/img/skyline.png">    </p:cNvPr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7498080" y="5806440"/>
            <a:ext cx="402336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473952"/>
            <a:ext cx="10874959" cy="10973"/>
          </a:xfrm>
          <a:prstGeom prst="rect">
            <a:avLst/>
          </a:prstGeom>
          <a:solidFill>
            <a:srgbClr val="DFE6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Agentes de IA  ·  José Miguel Amaya  ·  Full Day de Comunidades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18927" y="65288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E9BD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QUIÉN LES HABLA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731520"/>
            <a:ext cx="10874959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36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José Miguel Amaya — 15+ años construyendo software</a:t>
            </a:r>
            <a:endParaRPr lang="en-US" sz="3360" dirty="0"/>
          </a:p>
        </p:txBody>
      </p:sp>
      <p:pic>
        <p:nvPicPr>
          <p:cNvPr id="8" name="Image 0" descr="/home/jamaya/PiuraAI/fundamentos-agentes/assets/img/miguel-squa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2514600"/>
            <a:ext cx="2743200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" y="2514600"/>
            <a:ext cx="2743200" cy="2743200"/>
          </a:xfrm>
          <a:prstGeom prst="roundRect">
            <a:avLst>
              <a:gd name="adj" fmla="val 1667"/>
            </a:avLst>
          </a:prstGeom>
          <a:solidFill>
            <a:srgbClr val="FFFFFF">
              <a:alpha val="0"/>
            </a:srgbClr>
          </a:solidFill>
          <a:ln w="31750">
            <a:solidFill>
              <a:srgbClr val="29AB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13048" y="2926080"/>
            <a:ext cx="7720279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792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 y socio fundador de Xprende Tech; fundador de Piura AI y Python Piura.</a:t>
            </a:r>
            <a:endParaRPr lang="en-US" sz="1792" dirty="0"/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792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Construyo agentes conversacionales en producción: LangChain, LangGraph, RAG.</a:t>
            </a:r>
            <a:endParaRPr lang="en-US" sz="1792" dirty="0"/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792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Hoy no hablo de mis proyectos: hablo de la base, para que entiendan qué hay debajo de la palabra 'agente'.</a:t>
            </a:r>
            <a:endParaRPr lang="en-US" sz="179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473952"/>
            <a:ext cx="10874959" cy="10973"/>
          </a:xfrm>
          <a:prstGeom prst="rect">
            <a:avLst/>
          </a:prstGeom>
          <a:solidFill>
            <a:srgbClr val="2230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C8A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Agentes de IA  ·  José Miguel Amaya  ·  Full Day de Comunidades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18927" y="65288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29ABE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RECORRIDO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731520"/>
            <a:ext cx="10874959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36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Qué es, cómo funciona y cómo se construye</a:t>
            </a:r>
            <a:endParaRPr lang="en-US" sz="3360" dirty="0"/>
          </a:p>
        </p:txBody>
      </p:sp>
      <p:sp>
        <p:nvSpPr>
          <p:cNvPr id="8" name="Shape 6"/>
          <p:cNvSpPr/>
          <p:nvPr/>
        </p:nvSpPr>
        <p:spPr>
          <a:xfrm>
            <a:off x="658368" y="2148840"/>
            <a:ext cx="5346040" cy="1188720"/>
          </a:xfrm>
          <a:prstGeom prst="roundRect">
            <a:avLst>
              <a:gd name="adj" fmla="val 6154"/>
            </a:avLst>
          </a:prstGeom>
          <a:solidFill>
            <a:srgbClr val="131D31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148840"/>
            <a:ext cx="5346040" cy="54864"/>
          </a:xfrm>
          <a:prstGeom prst="roundRect">
            <a:avLst>
              <a:gd name="adj" fmla="val 50000"/>
            </a:avLst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3500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9AB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481328" y="2404872"/>
            <a:ext cx="434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Qué es un agente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81328" y="2834640"/>
            <a:ext cx="4340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diferencia con un LLM y con un workflow.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87288" y="2148840"/>
            <a:ext cx="5346040" cy="1188720"/>
          </a:xfrm>
          <a:prstGeom prst="roundRect">
            <a:avLst>
              <a:gd name="adj" fmla="val 6154"/>
            </a:avLst>
          </a:prstGeom>
          <a:solidFill>
            <a:srgbClr val="131D31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87288" y="2148840"/>
            <a:ext cx="5346040" cy="54864"/>
          </a:xfrm>
          <a:prstGeom prst="roundRect">
            <a:avLst>
              <a:gd name="adj" fmla="val 50000"/>
            </a:avLst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5032" y="23500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9AB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010248" y="2404872"/>
            <a:ext cx="434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Cómo funciona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010248" y="2834640"/>
            <a:ext cx="4340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bucle, las herramientas y la memoria.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" y="3520440"/>
            <a:ext cx="5346040" cy="1188720"/>
          </a:xfrm>
          <a:prstGeom prst="roundRect">
            <a:avLst>
              <a:gd name="adj" fmla="val 6154"/>
            </a:avLst>
          </a:prstGeom>
          <a:solidFill>
            <a:srgbClr val="131D31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520440"/>
            <a:ext cx="5346040" cy="54864"/>
          </a:xfrm>
          <a:prstGeom prst="roundRect">
            <a:avLst>
              <a:gd name="adj" fmla="val 50000"/>
            </a:avLst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3721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9AB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481328" y="3776472"/>
            <a:ext cx="434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Cómo se construye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81328" y="4206240"/>
            <a:ext cx="4340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LangChain y LangGraph, con código.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87288" y="3520440"/>
            <a:ext cx="5346040" cy="1188720"/>
          </a:xfrm>
          <a:prstGeom prst="roundRect">
            <a:avLst>
              <a:gd name="adj" fmla="val 6154"/>
            </a:avLst>
          </a:prstGeom>
          <a:solidFill>
            <a:srgbClr val="131D31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87288" y="3520440"/>
            <a:ext cx="5346040" cy="54864"/>
          </a:xfrm>
          <a:prstGeom prst="roundRect">
            <a:avLst>
              <a:gd name="adj" fmla="val 50000"/>
            </a:avLst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25032" y="3721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9AB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010248" y="3776472"/>
            <a:ext cx="434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Otros frameworks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010248" y="4206240"/>
            <a:ext cx="4340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mapa del ecosistema y cómo elegir.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" y="5120640"/>
            <a:ext cx="10874959" cy="868680"/>
          </a:xfrm>
          <a:prstGeom prst="roundRect">
            <a:avLst>
              <a:gd name="adj" fmla="val 8421"/>
            </a:avLst>
          </a:prstGeom>
          <a:solidFill>
            <a:srgbClr val="131D31"/>
          </a:solidFill>
          <a:ln w="19050">
            <a:solidFill>
              <a:srgbClr val="29AB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8408" y="5120640"/>
            <a:ext cx="10234879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C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terminar, vas a poder construir un agente y ubicar el resto del ecosistema.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473952"/>
            <a:ext cx="10874959" cy="10973"/>
          </a:xfrm>
          <a:prstGeom prst="rect">
            <a:avLst/>
          </a:prstGeom>
          <a:solidFill>
            <a:srgbClr val="DFE6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Agentes de IA  ·  José Miguel Amaya  ·  Full Day de Comunidades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18927" y="65288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E9BD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PUNTO DE PARTIDA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731520"/>
            <a:ext cx="10874959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36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LLM es una función de texto</a:t>
            </a:r>
            <a:endParaRPr lang="en-US" sz="3360" dirty="0"/>
          </a:p>
        </p:txBody>
      </p:sp>
      <p:sp>
        <p:nvSpPr>
          <p:cNvPr id="8" name="Shape 6"/>
          <p:cNvSpPr/>
          <p:nvPr/>
        </p:nvSpPr>
        <p:spPr>
          <a:xfrm>
            <a:off x="658368" y="228600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2860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3A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texto de entrada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41648" y="228600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9B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681728" y="228600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22860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texto de salida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3749040"/>
            <a:ext cx="3503066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3749040"/>
            <a:ext cx="3503066" cy="64008"/>
          </a:xfrm>
          <a:prstGeom prst="roundRect">
            <a:avLst>
              <a:gd name="adj" fmla="val 42857"/>
            </a:avLst>
          </a:prstGeom>
          <a:solidFill>
            <a:srgbClr val="D64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3931920"/>
            <a:ext cx="313730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 RECUERDA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59536" y="4206240"/>
            <a:ext cx="313730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llamada es independiente. Nada persiste entre mensajes.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4314" y="3749040"/>
            <a:ext cx="3503066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44314" y="3749040"/>
            <a:ext cx="3503066" cy="64008"/>
          </a:xfrm>
          <a:prstGeom prst="roundRect">
            <a:avLst>
              <a:gd name="adj" fmla="val 42857"/>
            </a:avLst>
          </a:prstGeom>
          <a:solidFill>
            <a:srgbClr val="D982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45482" y="3931920"/>
            <a:ext cx="313730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 DECIDE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45482" y="4206240"/>
            <a:ext cx="313730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elige pasos: solo produce el texto más probable.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30261" y="3749040"/>
            <a:ext cx="3503066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30261" y="3749040"/>
            <a:ext cx="3503066" cy="64008"/>
          </a:xfrm>
          <a:prstGeom prst="roundRect">
            <a:avLst>
              <a:gd name="adj" fmla="val 42857"/>
            </a:avLst>
          </a:prstGeom>
          <a:solidFill>
            <a:srgbClr val="D64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31429" y="3931920"/>
            <a:ext cx="313730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 ACTÚA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31429" y="4206240"/>
            <a:ext cx="313730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puede enviar un correo ni consultar una base de datos.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" y="5623560"/>
            <a:ext cx="108749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 como un genio brillante… pero encerrado, sin manos y sin memoria.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473952"/>
            <a:ext cx="10874959" cy="10973"/>
          </a:xfrm>
          <a:prstGeom prst="rect">
            <a:avLst/>
          </a:prstGeom>
          <a:solidFill>
            <a:srgbClr val="DFE6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Agentes de IA  ·  José Miguel Amaya  ·  Full Day de Comunidades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18927" y="65288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E9BD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PASO 1 · LA CADENA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731520"/>
            <a:ext cx="10874959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36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Encadenar: un prompt fijo que alimenta al modelo</a:t>
            </a:r>
            <a:endParaRPr lang="en-US" sz="3360" dirty="0"/>
          </a:p>
        </p:txBody>
      </p:sp>
      <p:sp>
        <p:nvSpPr>
          <p:cNvPr id="8" name="Shape 6"/>
          <p:cNvSpPr/>
          <p:nvPr/>
        </p:nvSpPr>
        <p:spPr>
          <a:xfrm>
            <a:off x="658368" y="2377440"/>
            <a:ext cx="332018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377440"/>
            <a:ext cx="3320186" cy="64008"/>
          </a:xfrm>
          <a:prstGeom prst="roundRect">
            <a:avLst>
              <a:gd name="adj" fmla="val 42857"/>
            </a:avLst>
          </a:prstGeom>
          <a:solidFill>
            <a:srgbClr val="1E9B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606040"/>
            <a:ext cx="28629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77824" y="3108960"/>
            <a:ext cx="286298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escribes tú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978554" y="2377440"/>
            <a:ext cx="457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9B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435754" y="2377440"/>
            <a:ext cx="332018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5754" y="2377440"/>
            <a:ext cx="3320186" cy="64008"/>
          </a:xfrm>
          <a:prstGeom prst="roundRect">
            <a:avLst>
              <a:gd name="adj" fmla="val 42857"/>
            </a:avLst>
          </a:prstGeom>
          <a:solidFill>
            <a:srgbClr val="1E9B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5210" y="2606040"/>
            <a:ext cx="28629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55210" y="3108960"/>
            <a:ext cx="286298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 texto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55941" y="2377440"/>
            <a:ext cx="457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9B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8213141" y="2377440"/>
            <a:ext cx="332018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13141" y="2377440"/>
            <a:ext cx="3320186" cy="64008"/>
          </a:xfrm>
          <a:prstGeom prst="roundRect">
            <a:avLst>
              <a:gd name="adj" fmla="val 42857"/>
            </a:avLst>
          </a:prstGeom>
          <a:solidFill>
            <a:srgbClr val="1E9B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32597" y="2606040"/>
            <a:ext cx="28629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Salida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32597" y="3108960"/>
            <a:ext cx="286298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 crudo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8368" y="4206240"/>
            <a:ext cx="108749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cadena sirve para tareas repetibles: resumir, clasificar, extraer. El camino lo decides tú.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8368" y="4892040"/>
            <a:ext cx="10874959" cy="822960"/>
          </a:xfrm>
          <a:prstGeom prst="roundRect">
            <a:avLst>
              <a:gd name="adj" fmla="val 8889"/>
            </a:avLst>
          </a:prstGeom>
          <a:solidFill>
            <a:srgbClr val="FDF3E3"/>
          </a:solidFill>
          <a:ln w="12700">
            <a:solidFill>
              <a:srgbClr val="F3D9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8408" y="4892040"/>
            <a:ext cx="1023487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Pero el modelo no puede decir: "no sé, mejor busco en la base de datos".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473952"/>
            <a:ext cx="10874959" cy="10973"/>
          </a:xfrm>
          <a:prstGeom prst="rect">
            <a:avLst/>
          </a:prstGeom>
          <a:solidFill>
            <a:srgbClr val="2230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C8A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Agentes de IA  ·  José Miguel Amaya  ·  Full Day de Comunidades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18927" y="65288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29ABE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PASO 2 · EL AGENTE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731520"/>
            <a:ext cx="10874959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36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agente decide el siguiente paso</a:t>
            </a:r>
            <a:endParaRPr lang="en-US" sz="3360" dirty="0"/>
          </a:p>
        </p:txBody>
      </p:sp>
      <p:sp>
        <p:nvSpPr>
          <p:cNvPr id="8" name="Shape 6"/>
          <p:cNvSpPr/>
          <p:nvPr/>
        </p:nvSpPr>
        <p:spPr>
          <a:xfrm>
            <a:off x="658368" y="2194560"/>
            <a:ext cx="10874959" cy="1371600"/>
          </a:xfrm>
          <a:prstGeom prst="roundRect">
            <a:avLst>
              <a:gd name="adj" fmla="val 5333"/>
            </a:avLst>
          </a:prstGeom>
          <a:solidFill>
            <a:srgbClr val="131D31"/>
          </a:solidFill>
          <a:ln w="19050">
            <a:solidFill>
              <a:srgbClr val="29AB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194560"/>
            <a:ext cx="10143439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agente es un modelo al que le das herramientas y un bucle: puede responder, o pedir una acción, y vuelve a pensar con el resultado.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3886200"/>
            <a:ext cx="5300320" cy="1371600"/>
          </a:xfrm>
          <a:prstGeom prst="roundRect">
            <a:avLst>
              <a:gd name="adj" fmla="val 5333"/>
            </a:avLst>
          </a:prstGeom>
          <a:solidFill>
            <a:srgbClr val="131D31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886200"/>
            <a:ext cx="5300320" cy="64008"/>
          </a:xfrm>
          <a:prstGeom prst="roundRect">
            <a:avLst>
              <a:gd name="adj" fmla="val 42857"/>
            </a:avLst>
          </a:prstGeom>
          <a:solidFill>
            <a:srgbClr val="5B6B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4069080"/>
            <a:ext cx="475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6B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Cadena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32688" y="4572000"/>
            <a:ext cx="475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camino lo escribes tú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33008" y="3886200"/>
            <a:ext cx="5300320" cy="1371600"/>
          </a:xfrm>
          <a:prstGeom prst="roundRect">
            <a:avLst>
              <a:gd name="adj" fmla="val 5333"/>
            </a:avLst>
          </a:prstGeom>
          <a:solidFill>
            <a:srgbClr val="131D31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33008" y="3886200"/>
            <a:ext cx="5300320" cy="64008"/>
          </a:xfrm>
          <a:prstGeom prst="roundRect">
            <a:avLst>
              <a:gd name="adj" fmla="val 42857"/>
            </a:avLst>
          </a:prstGeom>
          <a:solidFill>
            <a:srgbClr val="4FA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7328" y="4069080"/>
            <a:ext cx="475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A8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07328" y="4572000"/>
            <a:ext cx="475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camino lo decide el modelo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" y="5440680"/>
            <a:ext cx="10874959" cy="777240"/>
          </a:xfrm>
          <a:prstGeom prst="roundRect">
            <a:avLst>
              <a:gd name="adj" fmla="val 9412"/>
            </a:avLst>
          </a:prstGeom>
          <a:solidFill>
            <a:srgbClr val="131D31"/>
          </a:solidFill>
          <a:ln w="19050">
            <a:solidFill>
              <a:srgbClr val="29AB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5440680"/>
            <a:ext cx="1023487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E6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Regla práctica: si el camino es predecible, quédate en workflow; si el modelo debe decidir, sube a agente. Empieza por lo más simple.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473952"/>
            <a:ext cx="10874959" cy="10973"/>
          </a:xfrm>
          <a:prstGeom prst="rect">
            <a:avLst/>
          </a:prstGeom>
          <a:solidFill>
            <a:srgbClr val="DFE6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Agentes de IA  ·  José Miguel Amaya  ·  Full Day de Comunidades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18927" y="65288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E9BD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CORAZÓN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731520"/>
            <a:ext cx="10874959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36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bucle del agente (ReAct)</a:t>
            </a:r>
            <a:endParaRPr lang="en-US" sz="3360" dirty="0"/>
          </a:p>
        </p:txBody>
      </p:sp>
      <p:sp>
        <p:nvSpPr>
          <p:cNvPr id="8" name="Text 6"/>
          <p:cNvSpPr/>
          <p:nvPr/>
        </p:nvSpPr>
        <p:spPr>
          <a:xfrm>
            <a:off x="658368" y="1783080"/>
            <a:ext cx="108749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patrón clásico: razonar y actuar en un ciclo. Hoy el modelo lo hace con tool calling nativo.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" y="2103120"/>
            <a:ext cx="347868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103120"/>
            <a:ext cx="3478682" cy="64008"/>
          </a:xfrm>
          <a:prstGeom prst="roundRect">
            <a:avLst>
              <a:gd name="adj" fmla="val 42857"/>
            </a:avLst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2677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26464" y="2322576"/>
            <a:ext cx="251856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26464" y="2761488"/>
            <a:ext cx="251856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+ historial + reglas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56506" y="2103120"/>
            <a:ext cx="347868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56506" y="2103120"/>
            <a:ext cx="3478682" cy="64008"/>
          </a:xfrm>
          <a:prstGeom prst="roundRect">
            <a:avLst>
              <a:gd name="adj" fmla="val 42857"/>
            </a:avLst>
          </a:prstGeom>
          <a:solidFill>
            <a:srgbClr val="1E9B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5962" y="22677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9B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124602" y="2322576"/>
            <a:ext cx="251856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Razona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4602" y="2761488"/>
            <a:ext cx="251856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modelo decide el paso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54645" y="2103120"/>
            <a:ext cx="347868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54645" y="2103120"/>
            <a:ext cx="3478682" cy="64008"/>
          </a:xfrm>
          <a:prstGeom prst="roundRect">
            <a:avLst>
              <a:gd name="adj" fmla="val 42857"/>
            </a:avLst>
          </a:prstGeom>
          <a:solidFill>
            <a:srgbClr val="D982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4101" y="22677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82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822741" y="2322576"/>
            <a:ext cx="251856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¿Tool?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822741" y="2761488"/>
            <a:ext cx="251856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 o no: la bifurcación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" y="3657600"/>
            <a:ext cx="347868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3657600"/>
            <a:ext cx="3478682" cy="64008"/>
          </a:xfrm>
          <a:prstGeom prst="roundRect">
            <a:avLst>
              <a:gd name="adj" fmla="val 42857"/>
            </a:avLst>
          </a:prstGeom>
          <a:solidFill>
            <a:srgbClr val="4FA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38221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A8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426464" y="3877056"/>
            <a:ext cx="251856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Actúa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26464" y="4315968"/>
            <a:ext cx="251856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código ejecuta la tool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56506" y="3657600"/>
            <a:ext cx="347868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56506" y="3657600"/>
            <a:ext cx="3478682" cy="64008"/>
          </a:xfrm>
          <a:prstGeom prst="roundRect">
            <a:avLst>
              <a:gd name="adj" fmla="val 42857"/>
            </a:avLst>
          </a:prstGeom>
          <a:solidFill>
            <a:srgbClr val="1E9B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5962" y="38221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9B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124602" y="3877056"/>
            <a:ext cx="251856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Observa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124602" y="4315968"/>
            <a:ext cx="251856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resultado vuelve al modelo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54645" y="3657600"/>
            <a:ext cx="347868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54645" y="3657600"/>
            <a:ext cx="3478682" cy="64008"/>
          </a:xfrm>
          <a:prstGeom prst="roundRect">
            <a:avLst>
              <a:gd name="adj" fmla="val 42857"/>
            </a:avLst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74101" y="38221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8822741" y="3877056"/>
            <a:ext cx="251856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Termina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822741" y="4315968"/>
            <a:ext cx="251856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cuando no pide más tools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58368" y="5349240"/>
            <a:ext cx="108749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 un ciclo, no una línea: el modelo decide el paso, la ejecución vive en tu código.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473952"/>
            <a:ext cx="10874959" cy="10973"/>
          </a:xfrm>
          <a:prstGeom prst="rect">
            <a:avLst/>
          </a:prstGeom>
          <a:solidFill>
            <a:srgbClr val="DFE6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Agentes de IA  ·  José Miguel Amaya  ·  Full Day de Comunidades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18927" y="65288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E9BD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LAS CUATRO PIEZAS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731520"/>
            <a:ext cx="10874959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36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Todo agente tiene: cerebro, manos, memoria y sentidos</a:t>
            </a:r>
            <a:endParaRPr lang="en-US" sz="3360" dirty="0"/>
          </a:p>
        </p:txBody>
      </p:sp>
      <p:sp>
        <p:nvSpPr>
          <p:cNvPr id="8" name="Shape 6"/>
          <p:cNvSpPr/>
          <p:nvPr/>
        </p:nvSpPr>
        <p:spPr>
          <a:xfrm>
            <a:off x="658368" y="2286000"/>
            <a:ext cx="2581580" cy="2743200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286000"/>
            <a:ext cx="2581580" cy="64008"/>
          </a:xfrm>
          <a:prstGeom prst="roundRect">
            <a:avLst>
              <a:gd name="adj" fmla="val 42857"/>
            </a:avLst>
          </a:prstGeom>
          <a:solidFill>
            <a:srgbClr val="1E9B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468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9B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86968" y="3063240"/>
            <a:ext cx="2124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Cerebro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6968" y="3520440"/>
            <a:ext cx="21243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9BD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Modelo (LLM)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86968" y="3886200"/>
            <a:ext cx="21243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razona y redacta. Intercambiable por configuración.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22828" y="2286000"/>
            <a:ext cx="2581580" cy="2743200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2828" y="2286000"/>
            <a:ext cx="2581580" cy="64008"/>
          </a:xfrm>
          <a:prstGeom prst="roundRect">
            <a:avLst>
              <a:gd name="adj" fmla="val 42857"/>
            </a:avLst>
          </a:prstGeom>
          <a:solidFill>
            <a:srgbClr val="4FA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1428" y="2468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A8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651428" y="3063240"/>
            <a:ext cx="2124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51428" y="3520440"/>
            <a:ext cx="21243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A82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Herramientas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1428" y="3886200"/>
            <a:ext cx="21243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actúan en el mundo: APIs, base de datos, archivos.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87288" y="2286000"/>
            <a:ext cx="2581580" cy="2743200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87288" y="2286000"/>
            <a:ext cx="2581580" cy="64008"/>
          </a:xfrm>
          <a:prstGeom prst="roundRect">
            <a:avLst>
              <a:gd name="adj" fmla="val 42857"/>
            </a:avLst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5888" y="2468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415888" y="3063240"/>
            <a:ext cx="2124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Memoria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15888" y="3520440"/>
            <a:ext cx="21243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4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Estado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15888" y="3886200"/>
            <a:ext cx="21243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historial, hechos y checkpoints por conversación.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51747" y="2286000"/>
            <a:ext cx="2581580" cy="2743200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51747" y="2286000"/>
            <a:ext cx="2581580" cy="64008"/>
          </a:xfrm>
          <a:prstGeom prst="roundRect">
            <a:avLst>
              <a:gd name="adj" fmla="val 42857"/>
            </a:avLst>
          </a:prstGeom>
          <a:solidFill>
            <a:srgbClr val="D982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80347" y="2468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82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9180347" y="3063240"/>
            <a:ext cx="2124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Sentidos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80347" y="3520440"/>
            <a:ext cx="21243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82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180347" y="3886200"/>
            <a:ext cx="21243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que entra a la ventana en cada turno.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" y="5212080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22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eso lo llamamos el arnés (harness): todo lo que rodea al modelo —prompt, herramientas, middleware— para darle el contexto correcto en el momento correcto.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473952"/>
            <a:ext cx="10874959" cy="10973"/>
          </a:xfrm>
          <a:prstGeom prst="rect">
            <a:avLst/>
          </a:prstGeom>
          <a:solidFill>
            <a:srgbClr val="DFE6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Agentes de IA  ·  José Miguel Amaya  ·  Full Day de Comunidades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18927" y="65288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E9BD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CÓMO FUNCIONA · TOOL CALLING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731520"/>
            <a:ext cx="10874959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36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modelo propone; tu código ejecuta.</a:t>
            </a:r>
            <a:endParaRPr lang="en-US" sz="3360" dirty="0"/>
          </a:p>
        </p:txBody>
      </p:sp>
      <p:sp>
        <p:nvSpPr>
          <p:cNvPr id="8" name="Shape 6"/>
          <p:cNvSpPr/>
          <p:nvPr/>
        </p:nvSpPr>
        <p:spPr>
          <a:xfrm>
            <a:off x="658368" y="2103120"/>
            <a:ext cx="3478682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103120"/>
            <a:ext cx="3478682" cy="73152"/>
          </a:xfrm>
          <a:prstGeom prst="roundRect">
            <a:avLst>
              <a:gd name="adj" fmla="val 37500"/>
            </a:avLst>
          </a:prstGeom>
          <a:solidFill>
            <a:srgbClr val="1E9B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3317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9B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932688" y="3063240"/>
            <a:ext cx="293004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presentas un contrato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3794760"/>
            <a:ext cx="293004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Nombre, parámetros y descripción. Viajan en la petición (tools=): eso es lo que el modelo ve.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56506" y="2103120"/>
            <a:ext cx="3478682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6506" y="2103120"/>
            <a:ext cx="3478682" cy="73152"/>
          </a:xfrm>
          <a:prstGeom prst="roundRect">
            <a:avLst>
              <a:gd name="adj" fmla="val 37500"/>
            </a:avLst>
          </a:prstGeom>
          <a:solidFill>
            <a:srgbClr val="D982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0826" y="23317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82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630826" y="3063240"/>
            <a:ext cx="293004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modelo pide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30826" y="3794760"/>
            <a:ext cx="293004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Devuelve una petición: "llama a execute_sql con query=...". No ejecuta nada.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54645" y="2103120"/>
            <a:ext cx="3478682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54645" y="2103120"/>
            <a:ext cx="3478682" cy="73152"/>
          </a:xfrm>
          <a:prstGeom prst="roundRect">
            <a:avLst>
              <a:gd name="adj" fmla="val 37500"/>
            </a:avLst>
          </a:prstGeom>
          <a:solidFill>
            <a:srgbClr val="4FA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8965" y="23317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FA8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328965" y="3063240"/>
            <a:ext cx="293004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 código ejecuta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8965" y="3794760"/>
            <a:ext cx="293004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tus permisos, tus límites y tu validación. El resultado vuelve como un mensaje.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" y="5120640"/>
            <a:ext cx="108749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Esa separación es lo que hace al agente seguro: el modelo propone, tú dispones.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473952"/>
            <a:ext cx="10874959" cy="10973"/>
          </a:xfrm>
          <a:prstGeom prst="rect">
            <a:avLst/>
          </a:prstGeom>
          <a:solidFill>
            <a:srgbClr val="DFE6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Agentes de IA  ·  José Miguel Amaya  ·  Full Day de Comunidades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18927" y="65288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E9BD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CÓMO FUNCIONA · EL ESTADO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731520"/>
            <a:ext cx="10874959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36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dentro, todo es una lista de mensajes</a:t>
            </a:r>
            <a:endParaRPr lang="en-US" sz="3360" dirty="0"/>
          </a:p>
        </p:txBody>
      </p:sp>
      <p:sp>
        <p:nvSpPr>
          <p:cNvPr id="8" name="Shape 6"/>
          <p:cNvSpPr/>
          <p:nvPr/>
        </p:nvSpPr>
        <p:spPr>
          <a:xfrm>
            <a:off x="658368" y="2103120"/>
            <a:ext cx="10874959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103120"/>
            <a:ext cx="82296" cy="658368"/>
          </a:xfrm>
          <a:prstGeom prst="roundRect">
            <a:avLst>
              <a:gd name="adj" fmla="val 44444"/>
            </a:avLst>
          </a:prstGeom>
          <a:solidFill>
            <a:srgbClr val="5B6B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10312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system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18688" y="2103120"/>
            <a:ext cx="813175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reglas del agente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2926080"/>
            <a:ext cx="10874959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2926080"/>
            <a:ext cx="82296" cy="658368"/>
          </a:xfrm>
          <a:prstGeom prst="roundRect">
            <a:avLst>
              <a:gd name="adj" fmla="val 44444"/>
            </a:avLst>
          </a:prstGeom>
          <a:solidFill>
            <a:srgbClr val="1E9B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292608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9BD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18688" y="2926080"/>
            <a:ext cx="813175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que pide la persona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3749040"/>
            <a:ext cx="10874959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749040"/>
            <a:ext cx="82296" cy="658368"/>
          </a:xfrm>
          <a:prstGeom prst="roundRect">
            <a:avLst>
              <a:gd name="adj" fmla="val 44444"/>
            </a:avLst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374904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4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assistant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18688" y="3749040"/>
            <a:ext cx="813175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que dice el modelo (y sus peticiones de tools)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" y="4572000"/>
            <a:ext cx="10874959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4572000"/>
            <a:ext cx="82296" cy="658368"/>
          </a:xfrm>
          <a:prstGeom prst="roundRect">
            <a:avLst>
              <a:gd name="adj" fmla="val 44444"/>
            </a:avLst>
          </a:prstGeom>
          <a:solidFill>
            <a:srgbClr val="4FA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457200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A82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218688" y="4572000"/>
            <a:ext cx="813175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que devolvió la herramienta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8368" y="5532120"/>
            <a:ext cx="108749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turno del agente es esa lista creciendo (append-only): mensaje a mensaje, tool a tool. Por eso el contexto se llena y se paga.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473952"/>
            <a:ext cx="10874959" cy="10973"/>
          </a:xfrm>
          <a:prstGeom prst="rect">
            <a:avLst/>
          </a:prstGeom>
          <a:solidFill>
            <a:srgbClr val="DFE6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Agentes de IA  ·  José Miguel Amaya  ·  Full Day de Comunidades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18927" y="65288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E9BD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 TURNO, POR DENTRO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658368"/>
            <a:ext cx="10874959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36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«¿Cuánto vendimos en marzo?»</a:t>
            </a:r>
            <a:endParaRPr lang="en-US" sz="3360" dirty="0"/>
          </a:p>
        </p:txBody>
      </p:sp>
      <p:sp>
        <p:nvSpPr>
          <p:cNvPr id="8" name="Text 6"/>
          <p:cNvSpPr/>
          <p:nvPr/>
        </p:nvSpPr>
        <p:spPr>
          <a:xfrm>
            <a:off x="658368" y="1572768"/>
            <a:ext cx="108749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modelo no sabe el dato: pide la herramienta, tu código consulta, y solo entonces responde.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2011680"/>
            <a:ext cx="24444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011680"/>
            <a:ext cx="2444420" cy="54864"/>
          </a:xfrm>
          <a:prstGeom prst="roundRect">
            <a:avLst>
              <a:gd name="adj" fmla="val 50000"/>
            </a:avLst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09397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" y="2377440"/>
            <a:ext cx="21701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sabe el dato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102788" y="2011680"/>
            <a:ext cx="365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9B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468548" y="2011680"/>
            <a:ext cx="24444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68548" y="2011680"/>
            <a:ext cx="2444420" cy="54864"/>
          </a:xfrm>
          <a:prstGeom prst="roundRect">
            <a:avLst>
              <a:gd name="adj" fmla="val 50000"/>
            </a:avLst>
          </a:prstGeom>
          <a:solidFill>
            <a:srgbClr val="D982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4852" y="209397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14852" y="2377440"/>
            <a:ext cx="21701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Pide la herramienta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12968" y="2011680"/>
            <a:ext cx="365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9B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78728" y="2011680"/>
            <a:ext cx="24444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8728" y="2011680"/>
            <a:ext cx="2444420" cy="54864"/>
          </a:xfrm>
          <a:prstGeom prst="roundRect">
            <a:avLst>
              <a:gd name="adj" fmla="val 50000"/>
            </a:avLst>
          </a:prstGeom>
          <a:solidFill>
            <a:srgbClr val="1E9B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5032" y="209397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9B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25032" y="2377440"/>
            <a:ext cx="21701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código consulta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723147" y="2011680"/>
            <a:ext cx="365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9B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088907" y="2011680"/>
            <a:ext cx="24444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88907" y="2011680"/>
            <a:ext cx="2444420" cy="54864"/>
          </a:xfrm>
          <a:prstGeom prst="roundRect">
            <a:avLst>
              <a:gd name="adj" fmla="val 50000"/>
            </a:avLst>
          </a:prstGeom>
          <a:solidFill>
            <a:srgbClr val="4FA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5211" y="209397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A8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35211" y="2377440"/>
            <a:ext cx="21701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 con el dato</a:t>
            </a:r>
            <a:endParaRPr lang="en-US" sz="1050" dirty="0"/>
          </a:p>
        </p:txBody>
      </p:sp>
      <p:pic>
        <p:nvPicPr>
          <p:cNvPr id="28" name="Image 0" descr="/home/jamaya/PiuraAI/fundamentos-agentes/assets/img/term-messag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94993" y="2926080"/>
            <a:ext cx="6001710" cy="260604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58368" y="5715000"/>
            <a:ext cx="108749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modelo solo pidió la consulta; la ejecutó tu código, con tus permisos. Y si hace falta, encadena varias tools en el mismo turno.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473952"/>
            <a:ext cx="10874959" cy="10973"/>
          </a:xfrm>
          <a:prstGeom prst="rect">
            <a:avLst/>
          </a:prstGeom>
          <a:solidFill>
            <a:srgbClr val="DFE6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Agentes de IA  ·  José Miguel Amaya  ·  Full Day de Comunidades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18927" y="65288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E9BD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CÓMO FUNCIONA · EL FRENO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731520"/>
            <a:ext cx="10874959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36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bucle necesita un freno</a:t>
            </a:r>
            <a:endParaRPr lang="en-US" sz="3360" dirty="0"/>
          </a:p>
        </p:txBody>
      </p:sp>
      <p:sp>
        <p:nvSpPr>
          <p:cNvPr id="8" name="Shape 6"/>
          <p:cNvSpPr/>
          <p:nvPr/>
        </p:nvSpPr>
        <p:spPr>
          <a:xfrm>
            <a:off x="658368" y="2286000"/>
            <a:ext cx="3478682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286000"/>
            <a:ext cx="3478682" cy="73152"/>
          </a:xfrm>
          <a:prstGeom prst="roundRect">
            <a:avLst>
              <a:gd name="adj" fmla="val 37500"/>
            </a:avLst>
          </a:prstGeom>
          <a:solidFill>
            <a:srgbClr val="4FA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606040"/>
            <a:ext cx="293004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¿Cuándo termina?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2688" y="3383280"/>
            <a:ext cx="293004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Cuando el modelo ya no pide herramientas. Ese es el criterio por defecto.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56506" y="2286000"/>
            <a:ext cx="3478682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56506" y="2286000"/>
            <a:ext cx="3478682" cy="73152"/>
          </a:xfrm>
          <a:prstGeom prst="roundRect">
            <a:avLst>
              <a:gd name="adj" fmla="val 37500"/>
            </a:avLst>
          </a:prstGeom>
          <a:solidFill>
            <a:srgbClr val="D64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0826" y="2606040"/>
            <a:ext cx="293004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Límites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30826" y="3383280"/>
            <a:ext cx="293004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Máximo de iteraciones, tiempo y costo. Un bucle sin freno es un error de diseño.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54645" y="2286000"/>
            <a:ext cx="3478682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54645" y="2286000"/>
            <a:ext cx="3478682" cy="73152"/>
          </a:xfrm>
          <a:prstGeom prst="roundRect">
            <a:avLst>
              <a:gd name="adj" fmla="val 37500"/>
            </a:avLst>
          </a:prstGeom>
          <a:solidFill>
            <a:srgbClr val="D982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8965" y="2606040"/>
            <a:ext cx="293004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Errores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28965" y="3383280"/>
            <a:ext cx="293004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una tool falla, el resultado vuelve como mensaje y el modelo puede corregir.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" y="5212080"/>
            <a:ext cx="108749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Predecible o no, el agente siempre debe poder parar.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473952"/>
            <a:ext cx="10874959" cy="10973"/>
          </a:xfrm>
          <a:prstGeom prst="rect">
            <a:avLst/>
          </a:prstGeom>
          <a:solidFill>
            <a:srgbClr val="2230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C8A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Agentes de IA  ·  José Miguel Amaya  ·  Full Day de Comunidades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18927" y="65288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29ABE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CÓMO FUNCIONA · EL RECURSO ESCASO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731520"/>
            <a:ext cx="10874959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36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Cómo recuerda un agente</a:t>
            </a:r>
            <a:endParaRPr lang="en-US" sz="3360" dirty="0"/>
          </a:p>
        </p:txBody>
      </p:sp>
      <p:sp>
        <p:nvSpPr>
          <p:cNvPr id="8" name="Shape 6"/>
          <p:cNvSpPr/>
          <p:nvPr/>
        </p:nvSpPr>
        <p:spPr>
          <a:xfrm>
            <a:off x="658368" y="2286000"/>
            <a:ext cx="2581580" cy="2468880"/>
          </a:xfrm>
          <a:prstGeom prst="roundRect">
            <a:avLst>
              <a:gd name="adj" fmla="val 2963"/>
            </a:avLst>
          </a:prstGeom>
          <a:solidFill>
            <a:srgbClr val="131D31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286000"/>
            <a:ext cx="2581580" cy="64008"/>
          </a:xfrm>
          <a:prstGeom prst="roundRect">
            <a:avLst>
              <a:gd name="adj" fmla="val 42857"/>
            </a:avLst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514600"/>
            <a:ext cx="21243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Ventana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6968" y="3200400"/>
            <a:ext cx="21243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9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contexto es finito y se paga. Lo que no entra, no lo sabe.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22828" y="2286000"/>
            <a:ext cx="2581580" cy="2468880"/>
          </a:xfrm>
          <a:prstGeom prst="roundRect">
            <a:avLst>
              <a:gd name="adj" fmla="val 2963"/>
            </a:avLst>
          </a:prstGeom>
          <a:solidFill>
            <a:srgbClr val="131D31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2828" y="2286000"/>
            <a:ext cx="2581580" cy="64008"/>
          </a:xfrm>
          <a:prstGeom prst="roundRect">
            <a:avLst>
              <a:gd name="adj" fmla="val 42857"/>
            </a:avLst>
          </a:prstGeom>
          <a:solidFill>
            <a:srgbClr val="4FA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1428" y="2514600"/>
            <a:ext cx="21243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Historial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1428" y="3200400"/>
            <a:ext cx="21243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9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guarda la conversación y se reenvía en cada turno.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87288" y="2286000"/>
            <a:ext cx="2581580" cy="2468880"/>
          </a:xfrm>
          <a:prstGeom prst="roundRect">
            <a:avLst>
              <a:gd name="adj" fmla="val 2963"/>
            </a:avLst>
          </a:prstGeom>
          <a:solidFill>
            <a:srgbClr val="131D31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87288" y="2286000"/>
            <a:ext cx="2581580" cy="64008"/>
          </a:xfrm>
          <a:prstGeom prst="roundRect">
            <a:avLst>
              <a:gd name="adj" fmla="val 42857"/>
            </a:avLst>
          </a:prstGeom>
          <a:solidFill>
            <a:srgbClr val="D982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5888" y="2514600"/>
            <a:ext cx="21243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Corto plazo (el hilo)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5888" y="3200400"/>
            <a:ext cx="21243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9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Guarda el estado de la conversación: continuar la charla y reanudar tras una pausa.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51747" y="2286000"/>
            <a:ext cx="2581580" cy="2468880"/>
          </a:xfrm>
          <a:prstGeom prst="roundRect">
            <a:avLst>
              <a:gd name="adj" fmla="val 2963"/>
            </a:avLst>
          </a:prstGeom>
          <a:solidFill>
            <a:srgbClr val="131D31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51747" y="2286000"/>
            <a:ext cx="2581580" cy="64008"/>
          </a:xfrm>
          <a:prstGeom prst="roundRect">
            <a:avLst>
              <a:gd name="adj" fmla="val 42857"/>
            </a:avLst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0347" y="2514600"/>
            <a:ext cx="21243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Largo plazo (entre hilos)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80347" y="3200400"/>
            <a:ext cx="21243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9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Guarda hechos y preferencias que cruzan conversaciones.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8368" y="5212080"/>
            <a:ext cx="108749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9AB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Dos memorias: la del hilo (corto plazo) y la de entre hilos (largo plazo). Y cuando el contexto crece, se compacta (compaction).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473952"/>
            <a:ext cx="10874959" cy="10973"/>
          </a:xfrm>
          <a:prstGeom prst="rect">
            <a:avLst/>
          </a:prstGeom>
          <a:solidFill>
            <a:srgbClr val="DFE6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Agentes de IA  ·  José Miguel Amaya  ·  Full Day de Comunidades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18927" y="65288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E9BD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CÓMO FUNCIONA · LAS PALABRAS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731520"/>
            <a:ext cx="10874959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36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Contexto, estado y memoria no son lo mismo</a:t>
            </a:r>
            <a:endParaRPr lang="en-US" sz="3360" dirty="0"/>
          </a:p>
        </p:txBody>
      </p:sp>
      <p:sp>
        <p:nvSpPr>
          <p:cNvPr id="8" name="Shape 6"/>
          <p:cNvSpPr/>
          <p:nvPr/>
        </p:nvSpPr>
        <p:spPr>
          <a:xfrm>
            <a:off x="658368" y="2286000"/>
            <a:ext cx="25815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286000"/>
            <a:ext cx="2581580" cy="64008"/>
          </a:xfrm>
          <a:prstGeom prst="roundRect">
            <a:avLst>
              <a:gd name="adj" fmla="val 42857"/>
            </a:avLst>
          </a:prstGeom>
          <a:solidFill>
            <a:srgbClr val="1E9B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514600"/>
            <a:ext cx="21243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 (ventana)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6968" y="3200400"/>
            <a:ext cx="21243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que el modelo ve en un turno: system, historial y reglas. Es finito y se paga.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22828" y="2286000"/>
            <a:ext cx="25815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2828" y="2286000"/>
            <a:ext cx="2581580" cy="64008"/>
          </a:xfrm>
          <a:prstGeom prst="roundRect">
            <a:avLst>
              <a:gd name="adj" fmla="val 42857"/>
            </a:avLst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1428" y="2514600"/>
            <a:ext cx="21243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1428" y="3200400"/>
            <a:ext cx="21243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mensajes acumulados de la conversación: lo que llevamos en el hilo.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87288" y="2286000"/>
            <a:ext cx="25815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87288" y="2286000"/>
            <a:ext cx="2581580" cy="64008"/>
          </a:xfrm>
          <a:prstGeom prst="roundRect">
            <a:avLst>
              <a:gd name="adj" fmla="val 42857"/>
            </a:avLst>
          </a:prstGeom>
          <a:solidFill>
            <a:srgbClr val="D982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5888" y="2514600"/>
            <a:ext cx="21243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Memoria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15888" y="3200400"/>
            <a:ext cx="21243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que sobrevive entre turnos: corto plazo (el hilo) y largo plazo (entre hilos).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51747" y="2286000"/>
            <a:ext cx="25815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51747" y="2286000"/>
            <a:ext cx="2581580" cy="64008"/>
          </a:xfrm>
          <a:prstGeom prst="roundRect">
            <a:avLst>
              <a:gd name="adj" fmla="val 42857"/>
            </a:avLst>
          </a:prstGeom>
          <a:solidFill>
            <a:srgbClr val="4FA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0347" y="2514600"/>
            <a:ext cx="21243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Hilo (thread)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80347" y="3200400"/>
            <a:ext cx="21243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conversación con identidad propia, separada de las demás por su id.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8368" y="5212080"/>
            <a:ext cx="108749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contexto es lo que el modelo ve ahora; el estado, lo que llevamos; la memoria, lo que guardamos.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473952"/>
            <a:ext cx="10874959" cy="10973"/>
          </a:xfrm>
          <a:prstGeom prst="rect">
            <a:avLst/>
          </a:prstGeom>
          <a:solidFill>
            <a:srgbClr val="DFE6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Agentes de IA  ·  José Miguel Amaya  ·  Full Day de Comunidades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18927" y="65288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E9BD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CÓMO FUNCIONA · LA PERSONA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731520"/>
            <a:ext cx="10874959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36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humano también está en el bucle</a:t>
            </a:r>
            <a:endParaRPr lang="en-US" sz="3360" dirty="0"/>
          </a:p>
        </p:txBody>
      </p:sp>
      <p:sp>
        <p:nvSpPr>
          <p:cNvPr id="8" name="Shape 6"/>
          <p:cNvSpPr/>
          <p:nvPr/>
        </p:nvSpPr>
        <p:spPr>
          <a:xfrm>
            <a:off x="658368" y="2377440"/>
            <a:ext cx="2375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377440"/>
            <a:ext cx="2375840" cy="64008"/>
          </a:xfrm>
          <a:prstGeom prst="roundRect">
            <a:avLst>
              <a:gd name="adj" fmla="val 42857"/>
            </a:avLst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606040"/>
            <a:ext cx="19735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agente decide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59536" y="3200400"/>
            <a:ext cx="19735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quiere enviar un correo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34208" y="2377440"/>
            <a:ext cx="457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9B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491408" y="2377440"/>
            <a:ext cx="2375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91408" y="2377440"/>
            <a:ext cx="2375840" cy="64008"/>
          </a:xfrm>
          <a:prstGeom prst="roundRect">
            <a:avLst>
              <a:gd name="adj" fmla="val 42857"/>
            </a:avLst>
          </a:prstGeom>
          <a:solidFill>
            <a:srgbClr val="D982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92576" y="2606040"/>
            <a:ext cx="19735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pausa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92576" y="3200400"/>
            <a:ext cx="19735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de la acción sensible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67248" y="2377440"/>
            <a:ext cx="457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9B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324448" y="2377440"/>
            <a:ext cx="2375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24448" y="2377440"/>
            <a:ext cx="2375840" cy="64008"/>
          </a:xfrm>
          <a:prstGeom prst="roundRect">
            <a:avLst>
              <a:gd name="adj" fmla="val 42857"/>
            </a:avLst>
          </a:prstGeom>
          <a:solidFill>
            <a:srgbClr val="4FA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25616" y="2606040"/>
            <a:ext cx="19735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Tú decides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525616" y="3200400"/>
            <a:ext cx="19735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apruebas, editas o rechazas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00287" y="2377440"/>
            <a:ext cx="457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9B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157487" y="2377440"/>
            <a:ext cx="2375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57487" y="2377440"/>
            <a:ext cx="2375840" cy="64008"/>
          </a:xfrm>
          <a:prstGeom prst="roundRect">
            <a:avLst>
              <a:gd name="adj" fmla="val 42857"/>
            </a:avLst>
          </a:prstGeom>
          <a:solidFill>
            <a:srgbClr val="1E9B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58655" y="2606040"/>
            <a:ext cx="19735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Continúa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358655" y="3200400"/>
            <a:ext cx="19735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tu decisión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" y="4434840"/>
            <a:ext cx="10874959" cy="1051560"/>
          </a:xfrm>
          <a:prstGeom prst="roundRect">
            <a:avLst>
              <a:gd name="adj" fmla="val 6957"/>
            </a:avLst>
          </a:prstGeom>
          <a:solidFill>
            <a:srgbClr val="EAF4FC"/>
          </a:solidFill>
          <a:ln w="12700">
            <a:solidFill>
              <a:srgbClr val="BFE0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8408" y="4434840"/>
            <a:ext cx="10234879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22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 esto cierro la teoría: ya sabes cómo funciona un agente. Ahora, cómo se construye.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473952"/>
            <a:ext cx="10874959" cy="10973"/>
          </a:xfrm>
          <a:prstGeom prst="rect">
            <a:avLst/>
          </a:prstGeom>
          <a:solidFill>
            <a:srgbClr val="DFE6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Agentes de IA  ·  José Miguel Amaya  ·  Full Day de Comunidades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18927" y="65288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E9BD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CONSTRUIR · EL STACK 2026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731520"/>
            <a:ext cx="10874959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36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LangChain, LangGraph y LangSmith</a:t>
            </a:r>
            <a:endParaRPr lang="en-US" sz="3360" dirty="0"/>
          </a:p>
        </p:txBody>
      </p:sp>
      <p:sp>
        <p:nvSpPr>
          <p:cNvPr id="8" name="Shape 6"/>
          <p:cNvSpPr/>
          <p:nvPr/>
        </p:nvSpPr>
        <p:spPr>
          <a:xfrm>
            <a:off x="658368" y="2194560"/>
            <a:ext cx="3478682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194560"/>
            <a:ext cx="3478682" cy="73152"/>
          </a:xfrm>
          <a:prstGeom prst="roundRect">
            <a:avLst>
              <a:gd name="adj" fmla="val 37500"/>
            </a:avLst>
          </a:prstGeom>
          <a:solidFill>
            <a:srgbClr val="1E9B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423160"/>
            <a:ext cx="29300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LangChain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32688" y="2971800"/>
            <a:ext cx="29300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9BD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agentes con poco código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32688" y="3337560"/>
            <a:ext cx="293004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agente en una función: create_agent. Mil integraciones de modelos y herramientas.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56506" y="2194560"/>
            <a:ext cx="3478682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6506" y="2194560"/>
            <a:ext cx="3478682" cy="73152"/>
          </a:xfrm>
          <a:prstGeom prst="roundRect">
            <a:avLst>
              <a:gd name="adj" fmla="val 37500"/>
            </a:avLst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0826" y="2423160"/>
            <a:ext cx="29300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LangGraph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30826" y="2971800"/>
            <a:ext cx="29300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4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control explícito del flujo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30826" y="3337560"/>
            <a:ext cx="293004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Cuando lo necesitas: estado, ciclos, persistencia, interrupciones.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54645" y="2194560"/>
            <a:ext cx="3478682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54645" y="2194560"/>
            <a:ext cx="3478682" cy="73152"/>
          </a:xfrm>
          <a:prstGeom prst="roundRect">
            <a:avLst>
              <a:gd name="adj" fmla="val 37500"/>
            </a:avLst>
          </a:prstGeom>
          <a:solidFill>
            <a:srgbClr val="4FA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8965" y="2423160"/>
            <a:ext cx="29300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LangSmith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28965" y="2971800"/>
            <a:ext cx="29300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A82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 observabilidad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328965" y="3337560"/>
            <a:ext cx="293004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 cada paso, cada tool y cada token. Depurar y evaluar.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8368" y="5120640"/>
            <a:ext cx="108749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Dato 2026: create_react_agent se deprecó; el estándar ahora es create_agent.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473952"/>
            <a:ext cx="10874959" cy="10973"/>
          </a:xfrm>
          <a:prstGeom prst="rect">
            <a:avLst/>
          </a:prstGeom>
          <a:solidFill>
            <a:srgbClr val="DFE6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Agentes de IA  ·  José Miguel Amaya  ·  Full Day de Comunidades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18927" y="65288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E9BD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LANGCHAIN V1 · EL MÍNIMO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731520"/>
            <a:ext cx="10874959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36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agente completo son cuatro líneas</a:t>
            </a:r>
            <a:endParaRPr lang="en-US" sz="3360" dirty="0"/>
          </a:p>
        </p:txBody>
      </p:sp>
      <p:pic>
        <p:nvPicPr>
          <p:cNvPr id="8" name="Image 0" descr="/home/jamaya/PiuraAI/fundamentos-agentes/assets/img/term-create-ag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72733" y="1965960"/>
            <a:ext cx="9246230" cy="34747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5577840"/>
            <a:ext cx="108749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create_agent(model, tools, system_prompt): arma el grafo por dentro, ejecuta las tools y repite hasta que el modelo responde.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473952"/>
            <a:ext cx="10874959" cy="10973"/>
          </a:xfrm>
          <a:prstGeom prst="rect">
            <a:avLst/>
          </a:prstGeom>
          <a:solidFill>
            <a:srgbClr val="DFE6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Agentes de IA  ·  José Miguel Amaya  ·  Full Day de Comunidades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18927" y="65288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E9BD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LANGCHAIN V1 · INSTRUCCIONES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731520"/>
            <a:ext cx="10874959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36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reglas del agente</a:t>
            </a:r>
            <a:endParaRPr lang="en-US" sz="3360" dirty="0"/>
          </a:p>
        </p:txBody>
      </p:sp>
      <p:sp>
        <p:nvSpPr>
          <p:cNvPr id="8" name="Shape 6"/>
          <p:cNvSpPr/>
          <p:nvPr/>
        </p:nvSpPr>
        <p:spPr>
          <a:xfrm>
            <a:off x="658368" y="1874520"/>
            <a:ext cx="10874959" cy="822960"/>
          </a:xfrm>
          <a:prstGeom prst="roundRect">
            <a:avLst>
              <a:gd name="adj" fmla="val 8889"/>
            </a:avLst>
          </a:prstGeom>
          <a:solidFill>
            <a:srgbClr val="0E1626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874520"/>
            <a:ext cx="101434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system_prompt=</a:t>
            </a:r>
            <a:pPr indent="0" marL="0">
              <a:buNone/>
            </a:pPr>
            <a:r>
              <a:rPr lang="en-US" sz="1300" dirty="0">
                <a:solidFill>
                  <a:srgbClr val="7AC9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"Eres un asistente de ventas. Usa las herramientas y no inventes datos."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" y="2971800"/>
            <a:ext cx="532775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971800"/>
            <a:ext cx="73152" cy="1005840"/>
          </a:xfrm>
          <a:prstGeom prst="roundRect">
            <a:avLst>
              <a:gd name="adj" fmla="val 50000"/>
            </a:avLst>
          </a:prstGeom>
          <a:solidFill>
            <a:srgbClr val="1E9B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118104"/>
            <a:ext cx="4870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 y objetivo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32688" y="3474720"/>
            <a:ext cx="4870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 es y qué debe lograr. El 'para qué' del agente.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05576" y="2971800"/>
            <a:ext cx="532775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05576" y="2971800"/>
            <a:ext cx="73152" cy="1005840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9896" y="3118104"/>
            <a:ext cx="4870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Reglas y límites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79896" y="3474720"/>
            <a:ext cx="4870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puede y qué no; cuándo pausar y pedir aprobación.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" y="4114800"/>
            <a:ext cx="532775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114800"/>
            <a:ext cx="73152" cy="1005840"/>
          </a:xfrm>
          <a:prstGeom prst="roundRect">
            <a:avLst>
              <a:gd name="adj" fmla="val 50000"/>
            </a:avLst>
          </a:prstGeom>
          <a:solidFill>
            <a:srgbClr val="D982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261104"/>
            <a:ext cx="4870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Formato y tono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2688" y="4617720"/>
            <a:ext cx="4870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responde: idioma, longitud y estilo.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05576" y="4114800"/>
            <a:ext cx="532775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05576" y="4114800"/>
            <a:ext cx="73152" cy="1005840"/>
          </a:xfrm>
          <a:prstGeom prst="roundRect">
            <a:avLst>
              <a:gd name="adj" fmla="val 50000"/>
            </a:avLst>
          </a:prstGeom>
          <a:solidFill>
            <a:srgbClr val="4FA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9896" y="4261104"/>
            <a:ext cx="4870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Cuando no sabe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79896" y="4617720"/>
            <a:ext cx="4870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inventar: usar una tool o decir que no lo sabe.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8368" y="5440680"/>
            <a:ext cx="108749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system prompt define el comportamiento; las descripciones de tools, cuándo usarlas.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473952"/>
            <a:ext cx="10874959" cy="10973"/>
          </a:xfrm>
          <a:prstGeom prst="rect">
            <a:avLst/>
          </a:prstGeom>
          <a:solidFill>
            <a:srgbClr val="DFE6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Agentes de IA  ·  José Miguel Amaya  ·  Full Day de Comunidades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18927" y="65288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E9BD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LANGCHAIN V1 · HERRAMIENTAS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731520"/>
            <a:ext cx="10874959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36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tool: decorador, tipos y docstring</a:t>
            </a:r>
            <a:endParaRPr lang="en-US" sz="3360" dirty="0"/>
          </a:p>
        </p:txBody>
      </p:sp>
      <p:sp>
        <p:nvSpPr>
          <p:cNvPr id="8" name="Shape 6"/>
          <p:cNvSpPr/>
          <p:nvPr/>
        </p:nvSpPr>
        <p:spPr>
          <a:xfrm>
            <a:off x="658368" y="2011680"/>
            <a:ext cx="5486400" cy="3474720"/>
          </a:xfrm>
          <a:prstGeom prst="roundRect">
            <a:avLst>
              <a:gd name="adj" fmla="val 2105"/>
            </a:avLst>
          </a:prstGeom>
          <a:solidFill>
            <a:srgbClr val="0E1626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19456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AC9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@tool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calculator(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a: float, b: float,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operation: Literal["add", "multiply", ...],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-&gt; float: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8A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"""Perform arithmetic on two numbers."""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return a * b  # ...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19088" y="2011680"/>
            <a:ext cx="5114239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19088" y="2011680"/>
            <a:ext cx="73152" cy="1051560"/>
          </a:xfrm>
          <a:prstGeom prst="roundRect">
            <a:avLst>
              <a:gd name="adj" fmla="val 50000"/>
            </a:avLst>
          </a:prstGeom>
          <a:solidFill>
            <a:srgbClr val="1E9B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3408" y="2148840"/>
            <a:ext cx="46570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Nombre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93408" y="2514600"/>
            <a:ext cx="465703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es descriptivo, el modelo lo entiende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19088" y="3218688"/>
            <a:ext cx="5114239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9088" y="3218688"/>
            <a:ext cx="73152" cy="1051560"/>
          </a:xfrm>
          <a:prstGeom prst="roundRect">
            <a:avLst>
              <a:gd name="adj" fmla="val 50000"/>
            </a:avLst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3408" y="3355848"/>
            <a:ext cx="46570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Tipos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93408" y="3721608"/>
            <a:ext cx="465703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argumentos son un contrato validado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19088" y="4425696"/>
            <a:ext cx="5114239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19088" y="4425696"/>
            <a:ext cx="73152" cy="1051560"/>
          </a:xfrm>
          <a:prstGeom prst="roundRect">
            <a:avLst>
              <a:gd name="adj" fmla="val 50000"/>
            </a:avLst>
          </a:prstGeom>
          <a:solidFill>
            <a:srgbClr val="4FA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93408" y="4562856"/>
            <a:ext cx="46570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Docstring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93408" y="4928616"/>
            <a:ext cx="465703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prompt que decide SI y COMO usarla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" y="5623560"/>
            <a:ext cx="108749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 que decide cuándo se usa una tool es su descripción, no su código. Pocas tools, nombres claros y errores útiles.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473952"/>
            <a:ext cx="10874959" cy="10973"/>
          </a:xfrm>
          <a:prstGeom prst="rect">
            <a:avLst/>
          </a:prstGeom>
          <a:solidFill>
            <a:srgbClr val="DFE6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Agentes de IA  ·  José Miguel Amaya  ·  Full Day de Comunidades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18927" y="65288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E9BD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LANGCHAIN V1 · CONFIGURACIÓN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731520"/>
            <a:ext cx="10874959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36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 sustituible y comportamiento extensible</a:t>
            </a:r>
            <a:endParaRPr lang="en-US" sz="3360" dirty="0"/>
          </a:p>
        </p:txBody>
      </p:sp>
      <p:sp>
        <p:nvSpPr>
          <p:cNvPr id="8" name="Shape 6"/>
          <p:cNvSpPr/>
          <p:nvPr/>
        </p:nvSpPr>
        <p:spPr>
          <a:xfrm>
            <a:off x="658368" y="1874520"/>
            <a:ext cx="10874959" cy="822960"/>
          </a:xfrm>
          <a:prstGeom prst="roundRect">
            <a:avLst>
              <a:gd name="adj" fmla="val 8889"/>
            </a:avLst>
          </a:prstGeom>
          <a:solidFill>
            <a:srgbClr val="0E1626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874520"/>
            <a:ext cx="101434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model=</a:t>
            </a:r>
            <a:pPr indent="0" marL="0">
              <a:buNone/>
            </a:pPr>
            <a:r>
              <a:rPr lang="en-US" sz="1450" dirty="0">
                <a:solidFill>
                  <a:srgbClr val="7AC9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"openai:gpt-5"</a:t>
            </a:r>
            <a:pPr indent="0" marL="0">
              <a:buNone/>
            </a:pPr>
            <a:r>
              <a:rPr lang="en-US" sz="1450" dirty="0">
                <a:solidFill>
                  <a:srgbClr val="7C8A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# o anthropic:..., google:..., ollama:...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58368" y="2971800"/>
            <a:ext cx="530946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971800"/>
            <a:ext cx="5309464" cy="64008"/>
          </a:xfrm>
          <a:prstGeom prst="roundRect">
            <a:avLst>
              <a:gd name="adj" fmla="val 42857"/>
            </a:avLst>
          </a:prstGeom>
          <a:solidFill>
            <a:srgbClr val="1E9B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200400"/>
            <a:ext cx="4760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modelo es sustituible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2688" y="3840480"/>
            <a:ext cx="476082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Cambia de proveedor con una línea: `init_chat_model` unifica la interfaz, y las content blocks dan un formato común a texto, imágenes y más.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23864" y="2971800"/>
            <a:ext cx="530946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23864" y="2971800"/>
            <a:ext cx="5309464" cy="64008"/>
          </a:xfrm>
          <a:prstGeom prst="roundRect">
            <a:avLst>
              <a:gd name="adj" fmla="val 42857"/>
            </a:avLst>
          </a:prstGeom>
          <a:solidFill>
            <a:srgbClr val="4FA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8184" y="3200400"/>
            <a:ext cx="4760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middleware lo hace extensible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98184" y="3840480"/>
            <a:ext cx="476082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Hooks que se enganchan antes y después del modelo, y antes y después de cada tool, sin tocar el bucle. Categorías: contexto (resumir, memorizar), guardrails (PII), aprobación humana, resiliencia (reintentos, límites) y subagentes. No es un runtime aparte: corre dentro del grafo.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473952"/>
            <a:ext cx="10874959" cy="10973"/>
          </a:xfrm>
          <a:prstGeom prst="rect">
            <a:avLst/>
          </a:prstGeom>
          <a:solidFill>
            <a:srgbClr val="DFE6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Agentes de IA  ·  José Miguel Amaya  ·  Full Day de Comunidades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18927" y="65288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E9BD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LANGCHAIN V1 · SALIDA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731520"/>
            <a:ext cx="10874959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36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Respuestas con forma y en vivo</a:t>
            </a:r>
            <a:endParaRPr lang="en-US" sz="3360" dirty="0"/>
          </a:p>
        </p:txBody>
      </p:sp>
      <p:sp>
        <p:nvSpPr>
          <p:cNvPr id="8" name="Shape 6"/>
          <p:cNvSpPr/>
          <p:nvPr/>
        </p:nvSpPr>
        <p:spPr>
          <a:xfrm>
            <a:off x="658368" y="2286000"/>
            <a:ext cx="530032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286000"/>
            <a:ext cx="5300320" cy="73152"/>
          </a:xfrm>
          <a:prstGeom prst="roundRect">
            <a:avLst>
              <a:gd name="adj" fmla="val 37500"/>
            </a:avLst>
          </a:prstGeom>
          <a:solidFill>
            <a:srgbClr val="1E9B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514600"/>
            <a:ext cx="471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Salida estructurada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50976" y="3108960"/>
            <a:ext cx="4715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BD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Pydantic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50976" y="3520440"/>
            <a:ext cx="471510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integrar con tu sistema: el modelo devuelve un objeto validado, no texto suelto. Se activa con response_format y el resultado queda en structured_response.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33008" y="2286000"/>
            <a:ext cx="530032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3008" y="2286000"/>
            <a:ext cx="5300320" cy="73152"/>
          </a:xfrm>
          <a:prstGeom prst="roundRect">
            <a:avLst>
              <a:gd name="adj" fmla="val 37500"/>
            </a:avLst>
          </a:prstGeom>
          <a:solidFill>
            <a:srgbClr val="4FA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5616" y="2514600"/>
            <a:ext cx="471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Streaming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525616" y="3108960"/>
            <a:ext cx="4715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A82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tokens en vivo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25616" y="3520440"/>
            <a:ext cx="471510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 la respuesta mientras se escribe: mejor experiencia y latencia percibida. Igual de simple de activar.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" y="5212080"/>
            <a:ext cx="108749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Dos detalles de implementación que hacen al agente usable y fácil de integrar.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473952"/>
            <a:ext cx="10874959" cy="10973"/>
          </a:xfrm>
          <a:prstGeom prst="rect">
            <a:avLst/>
          </a:prstGeom>
          <a:solidFill>
            <a:srgbClr val="DFE6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Agentes de IA  ·  José Miguel Amaya  ·  Full Day de Comunidades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18927" y="65288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E9BD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CONSTRUIR · SEGURIDAD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731520"/>
            <a:ext cx="10874959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36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modelo propone, tú dispones</a:t>
            </a:r>
            <a:endParaRPr lang="en-US" sz="3360" dirty="0"/>
          </a:p>
        </p:txBody>
      </p:sp>
      <p:sp>
        <p:nvSpPr>
          <p:cNvPr id="8" name="Shape 6"/>
          <p:cNvSpPr/>
          <p:nvPr/>
        </p:nvSpPr>
        <p:spPr>
          <a:xfrm>
            <a:off x="658368" y="2194560"/>
            <a:ext cx="5327752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194560"/>
            <a:ext cx="73152" cy="1143000"/>
          </a:xfrm>
          <a:prstGeom prst="roundRect">
            <a:avLst>
              <a:gd name="adj" fmla="val 50000"/>
            </a:avLst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340864"/>
            <a:ext cx="4870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Mínimo privilegio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32688" y="2724912"/>
            <a:ext cx="48705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tools corren con tus permisos y tus límites, nunca con los del modelo.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05576" y="2194560"/>
            <a:ext cx="5327752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05576" y="2194560"/>
            <a:ext cx="73152" cy="1143000"/>
          </a:xfrm>
          <a:prstGeom prst="roundRect">
            <a:avLst>
              <a:gd name="adj" fmla="val 50000"/>
            </a:avLst>
          </a:prstGeom>
          <a:solidFill>
            <a:srgbClr val="1E9B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9896" y="2340864"/>
            <a:ext cx="4870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Validación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79896" y="2724912"/>
            <a:ext cx="48705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 los argumentos antes de ejecutar: el modelo puede equivocarse.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" y="3474720"/>
            <a:ext cx="5327752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474720"/>
            <a:ext cx="73152" cy="1143000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3621024"/>
            <a:ext cx="4870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 injection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32688" y="4005072"/>
            <a:ext cx="48705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contenido externo (documentos, web) son datos, no órdenes.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05576" y="3474720"/>
            <a:ext cx="5327752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05576" y="3474720"/>
            <a:ext cx="73152" cy="1143000"/>
          </a:xfrm>
          <a:prstGeom prst="roundRect">
            <a:avLst>
              <a:gd name="adj" fmla="val 50000"/>
            </a:avLst>
          </a:prstGeom>
          <a:solidFill>
            <a:srgbClr val="4FA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9896" y="3621024"/>
            <a:ext cx="4870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Guardrails y humano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79896" y="4005072"/>
            <a:ext cx="48705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Middleware para datos sensibles (PII) y aprobación en acciones críticas.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" y="5166360"/>
            <a:ext cx="108749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modelo decide; la ejecución y el permiso viven en tu código.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473952"/>
            <a:ext cx="10874959" cy="10973"/>
          </a:xfrm>
          <a:prstGeom prst="rect">
            <a:avLst/>
          </a:prstGeom>
          <a:solidFill>
            <a:srgbClr val="DFE6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Agentes de IA  ·  José Miguel Amaya  ·  Full Day de Comunidades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18927" y="65288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E9BD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LANGGRAPH · CUÁNDO BAJAR DE NIVEL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731520"/>
            <a:ext cx="10874959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36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create_agent cubre el 80%. LangGraph, el control.</a:t>
            </a:r>
            <a:endParaRPr lang="en-US" sz="3360" dirty="0"/>
          </a:p>
        </p:txBody>
      </p:sp>
      <p:sp>
        <p:nvSpPr>
          <p:cNvPr id="8" name="Shape 6"/>
          <p:cNvSpPr/>
          <p:nvPr/>
        </p:nvSpPr>
        <p:spPr>
          <a:xfrm>
            <a:off x="658368" y="2194560"/>
            <a:ext cx="53003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194560"/>
            <a:ext cx="5300320" cy="73152"/>
          </a:xfrm>
          <a:prstGeom prst="roundRect">
            <a:avLst>
              <a:gd name="adj" fmla="val 37500"/>
            </a:avLst>
          </a:prstGeom>
          <a:solidFill>
            <a:srgbClr val="1E9B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423160"/>
            <a:ext cx="471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 create_agent cuando…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50976" y="3108960"/>
            <a:ext cx="471510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Necesitas un agente estándar</a:t>
            </a:r>
            <a:endParaRPr lang="en-US" sz="1350" dirty="0"/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bucle ReAct te alcanza</a:t>
            </a:r>
            <a:endParaRPr lang="en-US" sz="1350" dirty="0"/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Quieres arrancar hoy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33008" y="2194560"/>
            <a:ext cx="53003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3008" y="2194560"/>
            <a:ext cx="5300320" cy="73152"/>
          </a:xfrm>
          <a:prstGeom prst="roundRect">
            <a:avLst>
              <a:gd name="adj" fmla="val 37500"/>
            </a:avLst>
          </a:prstGeom>
          <a:solidFill>
            <a:srgbClr val="4FA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5616" y="2423160"/>
            <a:ext cx="471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Baja a LangGraph cuando…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25616" y="3108960"/>
            <a:ext cx="471510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Necesitas ramas condicionales</a:t>
            </a:r>
            <a:endParaRPr lang="en-US" sz="1350" dirty="0"/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Varios agentes o subgrafos</a:t>
            </a:r>
            <a:endParaRPr lang="en-US" sz="1350" dirty="0"/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Interrupciones en puntos exactos</a:t>
            </a:r>
            <a:endParaRPr lang="en-US" sz="1350" dirty="0"/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Ciclos con tus propias reglas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" y="5257800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22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LangChain para empezar; LangGraph para orquestar. Y en medio, Deep Agents: un arnés prearmado con planificación, archivos y subagentes.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473952"/>
            <a:ext cx="10874959" cy="10973"/>
          </a:xfrm>
          <a:prstGeom prst="rect">
            <a:avLst/>
          </a:prstGeom>
          <a:solidFill>
            <a:srgbClr val="DFE6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Agentes de IA  ·  José Miguel Amaya  ·  Full Day de Comunidades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18927" y="65288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E9BD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LANGGRAPH · EL GRAFO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731520"/>
            <a:ext cx="10874959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36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StateGraph: estado, nodos y aristas</a:t>
            </a:r>
            <a:endParaRPr lang="en-US" sz="3360" dirty="0"/>
          </a:p>
        </p:txBody>
      </p:sp>
      <p:pic>
        <p:nvPicPr>
          <p:cNvPr id="8" name="Image 0" descr="/home/jamaya/PiuraAI/fundamentos-agentes/assets/img/term-stategrap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93188" y="1828800"/>
            <a:ext cx="7805318" cy="3657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5623560"/>
            <a:ext cx="108749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aristas condicionales son la clave: el flujo depende del estado, no es fijo.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473952"/>
            <a:ext cx="10874959" cy="10973"/>
          </a:xfrm>
          <a:prstGeom prst="rect">
            <a:avLst/>
          </a:prstGeom>
          <a:solidFill>
            <a:srgbClr val="DFE6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Agentes de IA  ·  José Miguel Amaya  ·  Full Day de Comunidades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18927" y="65288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E9BD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LANGGRAPH · MEMORIA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731520"/>
            <a:ext cx="10874959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36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checkpointer y el agente recuerda</a:t>
            </a:r>
            <a:endParaRPr lang="en-US" sz="3360" dirty="0"/>
          </a:p>
        </p:txBody>
      </p:sp>
      <p:pic>
        <p:nvPicPr>
          <p:cNvPr id="8" name="Image 0" descr="/home/jamaya/PiuraAI/fundamentos-agentes/assets/img/term-pers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3757" y="1828800"/>
            <a:ext cx="10224181" cy="35661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5532120"/>
            <a:ext cx="108749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checkpointer guarda el hilo; el store, los hechos que cruzan conversaciones. El thread_id separa conversaciones; el context lleva datos por ejecución (p. ej. el user_id). RAM se pierde al reiniciar; para persistir: SQLite en dev, Postgres o Mongo en producción.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473952"/>
            <a:ext cx="10874959" cy="10973"/>
          </a:xfrm>
          <a:prstGeom prst="rect">
            <a:avLst/>
          </a:prstGeom>
          <a:solidFill>
            <a:srgbClr val="DFE6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Agentes de IA  ·  José Miguel Amaya  ·  Full Day de Comunidades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18927" y="65288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E9BD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LANGGRAPH · HUMAN IN THE LOOP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731520"/>
            <a:ext cx="10874959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36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Pausar, aprobar y reanudar</a:t>
            </a:r>
            <a:endParaRPr lang="en-US" sz="3360" dirty="0"/>
          </a:p>
        </p:txBody>
      </p:sp>
      <p:pic>
        <p:nvPicPr>
          <p:cNvPr id="8" name="Image 0" descr="/home/jamaya/PiuraAI/fundamentos-agentes/assets/img/term-hit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12798" y="1828800"/>
            <a:ext cx="8566099" cy="3657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5623560"/>
            <a:ext cx="108749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pausa puede durar horas: el estado quedó guardado en el checkpointer.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473952"/>
            <a:ext cx="10874959" cy="10973"/>
          </a:xfrm>
          <a:prstGeom prst="rect">
            <a:avLst/>
          </a:prstGeom>
          <a:solidFill>
            <a:srgbClr val="DFE6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Agentes de IA  ·  José Miguel Amaya  ·  Full Day de Comunidades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18927" y="65288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E9BD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 LA PIEZA ESTRELLA · RAG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731520"/>
            <a:ext cx="10874959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36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recuperación: responder con tus datos</a:t>
            </a:r>
            <a:endParaRPr lang="en-US" sz="3360" dirty="0"/>
          </a:p>
        </p:txBody>
      </p:sp>
      <p:sp>
        <p:nvSpPr>
          <p:cNvPr id="8" name="Shape 6"/>
          <p:cNvSpPr/>
          <p:nvPr/>
        </p:nvSpPr>
        <p:spPr>
          <a:xfrm>
            <a:off x="658368" y="2286000"/>
            <a:ext cx="2375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286000"/>
            <a:ext cx="2375840" cy="64008"/>
          </a:xfrm>
          <a:prstGeom prst="roundRect">
            <a:avLst>
              <a:gd name="adj" fmla="val 42857"/>
            </a:avLst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514600"/>
            <a:ext cx="19735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modelo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59536" y="3063240"/>
            <a:ext cx="19735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sabe el dato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34208" y="2286000"/>
            <a:ext cx="457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9B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491408" y="2286000"/>
            <a:ext cx="2375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91408" y="2286000"/>
            <a:ext cx="2375840" cy="64008"/>
          </a:xfrm>
          <a:prstGeom prst="roundRect">
            <a:avLst>
              <a:gd name="adj" fmla="val 42857"/>
            </a:avLst>
          </a:prstGeom>
          <a:solidFill>
            <a:srgbClr val="1E9B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92576" y="2514600"/>
            <a:ext cx="19735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Pide buscar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92576" y="3063240"/>
            <a:ext cx="19735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"busca en mis documentos"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67248" y="2286000"/>
            <a:ext cx="457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9B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324448" y="2286000"/>
            <a:ext cx="2375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24448" y="2286000"/>
            <a:ext cx="2375840" cy="64008"/>
          </a:xfrm>
          <a:prstGeom prst="roundRect">
            <a:avLst>
              <a:gd name="adj" fmla="val 42857"/>
            </a:avLst>
          </a:prstGeom>
          <a:solidFill>
            <a:srgbClr val="4FA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25616" y="2514600"/>
            <a:ext cx="19735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Recibe pasajes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525616" y="3063240"/>
            <a:ext cx="19735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fragmentos relevantes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00287" y="2286000"/>
            <a:ext cx="457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9B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157487" y="2286000"/>
            <a:ext cx="2375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57487" y="2286000"/>
            <a:ext cx="2375840" cy="64008"/>
          </a:xfrm>
          <a:prstGeom prst="roundRect">
            <a:avLst>
              <a:gd name="adj" fmla="val 42857"/>
            </a:avLst>
          </a:prstGeom>
          <a:solidFill>
            <a:srgbClr val="D982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58655" y="2514600"/>
            <a:ext cx="19735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Responde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358655" y="3063240"/>
            <a:ext cx="19735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con eso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" y="4206240"/>
            <a:ext cx="10874959" cy="1234440"/>
          </a:xfrm>
          <a:prstGeom prst="roundRect">
            <a:avLst>
              <a:gd name="adj" fmla="val 5926"/>
            </a:avLst>
          </a:prstGeom>
          <a:solidFill>
            <a:srgbClr val="EAF4FC"/>
          </a:solidFill>
          <a:ln w="12700">
            <a:solidFill>
              <a:srgbClr val="BFE0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8408" y="4206240"/>
            <a:ext cx="10234879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22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recuperación conecta al agente con tus datos: fragmentas los documentos, los guardas como embeddings en un índice y traes los fragmentos más parecidos. Cómo buscar bien merece su propio espacio.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473952"/>
            <a:ext cx="10874959" cy="10973"/>
          </a:xfrm>
          <a:prstGeom prst="rect">
            <a:avLst/>
          </a:prstGeom>
          <a:solidFill>
            <a:srgbClr val="DFE6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Agentes de IA  ·  José Miguel Amaya  ·  Full Day de Comunidades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18927" y="65288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E9BD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CONSTRUIR · EL PLANO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731520"/>
            <a:ext cx="10874959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36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agente completo, de una pieza</a:t>
            </a:r>
            <a:endParaRPr lang="en-US" sz="3360" dirty="0"/>
          </a:p>
        </p:txBody>
      </p:sp>
      <p:sp>
        <p:nvSpPr>
          <p:cNvPr id="8" name="Shape 6"/>
          <p:cNvSpPr/>
          <p:nvPr/>
        </p:nvSpPr>
        <p:spPr>
          <a:xfrm>
            <a:off x="658368" y="2286000"/>
            <a:ext cx="2043318" cy="2468880"/>
          </a:xfrm>
          <a:prstGeom prst="roundRect">
            <a:avLst>
              <a:gd name="adj" fmla="val 3580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286000"/>
            <a:ext cx="2043318" cy="64008"/>
          </a:xfrm>
          <a:prstGeom prst="roundRect">
            <a:avLst>
              <a:gd name="adj" fmla="val 42857"/>
            </a:avLst>
          </a:prstGeom>
          <a:solidFill>
            <a:srgbClr val="1E9B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514600"/>
            <a:ext cx="16775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1248" y="3154680"/>
            <a:ext cx="167755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razona y redacta. Sustituible por configuración.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66278" y="2286000"/>
            <a:ext cx="2043318" cy="2468880"/>
          </a:xfrm>
          <a:prstGeom prst="roundRect">
            <a:avLst>
              <a:gd name="adj" fmla="val 3580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66278" y="2286000"/>
            <a:ext cx="2043318" cy="64008"/>
          </a:xfrm>
          <a:prstGeom prst="roundRect">
            <a:avLst>
              <a:gd name="adj" fmla="val 42857"/>
            </a:avLst>
          </a:prstGeom>
          <a:solidFill>
            <a:srgbClr val="D982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49158" y="2514600"/>
            <a:ext cx="16775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Instrucciones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49158" y="3154680"/>
            <a:ext cx="167755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system prompt: rol, reglas y límites.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74188" y="2286000"/>
            <a:ext cx="2043318" cy="2468880"/>
          </a:xfrm>
          <a:prstGeom prst="roundRect">
            <a:avLst>
              <a:gd name="adj" fmla="val 3580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74188" y="2286000"/>
            <a:ext cx="2043318" cy="64008"/>
          </a:xfrm>
          <a:prstGeom prst="roundRect">
            <a:avLst>
              <a:gd name="adj" fmla="val 42857"/>
            </a:avLst>
          </a:prstGeom>
          <a:solidFill>
            <a:srgbClr val="4FA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068" y="2514600"/>
            <a:ext cx="16775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Herramientas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57068" y="3154680"/>
            <a:ext cx="167755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actúan; se describen solas con su docstring.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82099" y="2286000"/>
            <a:ext cx="2043318" cy="2468880"/>
          </a:xfrm>
          <a:prstGeom prst="roundRect">
            <a:avLst>
              <a:gd name="adj" fmla="val 3580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82099" y="2286000"/>
            <a:ext cx="2043318" cy="64008"/>
          </a:xfrm>
          <a:prstGeom prst="roundRect">
            <a:avLst>
              <a:gd name="adj" fmla="val 42857"/>
            </a:avLst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64979" y="2514600"/>
            <a:ext cx="16775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Middleware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64979" y="3154680"/>
            <a:ext cx="167755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hooks: contexto, guardrails, resiliencia.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90009" y="2286000"/>
            <a:ext cx="2043318" cy="2468880"/>
          </a:xfrm>
          <a:prstGeom prst="roundRect">
            <a:avLst>
              <a:gd name="adj" fmla="val 3580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90009" y="2286000"/>
            <a:ext cx="2043318" cy="64008"/>
          </a:xfrm>
          <a:prstGeom prst="roundRect">
            <a:avLst>
              <a:gd name="adj" fmla="val 42857"/>
            </a:avLst>
          </a:prstGeom>
          <a:solidFill>
            <a:srgbClr val="1E9B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72889" y="2514600"/>
            <a:ext cx="16775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Memoria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72889" y="3154680"/>
            <a:ext cx="167755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checkpointer (el hilo) y store (entre hilos).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" y="5029200"/>
            <a:ext cx="108749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Ese es el agente: el modelo y su arnés (instrucciones, herramientas, middleware y memoria). Lo demás —RAG, canales, observabilidad— se conecta alrededor.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473952"/>
            <a:ext cx="10874959" cy="10973"/>
          </a:xfrm>
          <a:prstGeom prst="rect">
            <a:avLst/>
          </a:prstGeom>
          <a:solidFill>
            <a:srgbClr val="DFE6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Agentes de IA  ·  José Miguel Amaya  ·  Full Day de Comunidades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18927" y="65288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E9BD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ALREDEDOR DEL AGENTE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731520"/>
            <a:ext cx="10874959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36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agente no vive solo</a:t>
            </a:r>
            <a:endParaRPr lang="en-US" sz="3360" dirty="0"/>
          </a:p>
        </p:txBody>
      </p:sp>
      <p:sp>
        <p:nvSpPr>
          <p:cNvPr id="8" name="Text 6"/>
          <p:cNvSpPr/>
          <p:nvPr/>
        </p:nvSpPr>
        <p:spPr>
          <a:xfrm>
            <a:off x="658368" y="1783080"/>
            <a:ext cx="108749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 tienes el núcleo: un modelo que decide, con herramientas, memoria y un lazo humano. A su alrededor hay cuatro piezas más; hoy solo las nombramos.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8368" y="2423160"/>
            <a:ext cx="532775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423160"/>
            <a:ext cx="5327752" cy="64008"/>
          </a:xfrm>
          <a:prstGeom prst="roundRect">
            <a:avLst>
              <a:gd name="adj" fmla="val 42857"/>
            </a:avLst>
          </a:prstGeom>
          <a:solidFill>
            <a:srgbClr val="1E9B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624328"/>
            <a:ext cx="4779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Canales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2688" y="3081528"/>
            <a:ext cx="4779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dónde entra y sale el mensaje: WhatsApp, Telegram, web. Cada canal solo traduce.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05576" y="2423160"/>
            <a:ext cx="532775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05576" y="2423160"/>
            <a:ext cx="5327752" cy="64008"/>
          </a:xfrm>
          <a:prstGeom prst="roundRect">
            <a:avLst>
              <a:gd name="adj" fmla="val 42857"/>
            </a:avLst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9896" y="2624328"/>
            <a:ext cx="4779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Núcleo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79896" y="3081528"/>
            <a:ext cx="4779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pieza que recibe, junta mensajes seguidos, guarda y arma el contexto antes de pensar.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" y="3840480"/>
            <a:ext cx="532775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840480"/>
            <a:ext cx="5327752" cy="64008"/>
          </a:xfrm>
          <a:prstGeom prst="roundRect">
            <a:avLst>
              <a:gd name="adj" fmla="val 42857"/>
            </a:avLst>
          </a:prstGeom>
          <a:solidFill>
            <a:srgbClr val="4FA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041648"/>
            <a:ext cx="4779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Observabilidad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32688" y="4498848"/>
            <a:ext cx="4779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 cada turno por dentro: qué nodo corrió, qué herramienta se llamó, cuántos tokens.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05576" y="3840480"/>
            <a:ext cx="532775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05576" y="3840480"/>
            <a:ext cx="5327752" cy="64008"/>
          </a:xfrm>
          <a:prstGeom prst="roundRect">
            <a:avLst>
              <a:gd name="adj" fmla="val 42857"/>
            </a:avLst>
          </a:prstGeom>
          <a:solidFill>
            <a:srgbClr val="D982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9896" y="4041648"/>
            <a:ext cx="4779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Evaluación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79896" y="4498848"/>
            <a:ext cx="4779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Medir si el agente acierta: ¿eligió bien la herramienta?, ¿la respuesta salió de los datos?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8368" y="5349240"/>
            <a:ext cx="108749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Cuatro nombres para reconocerlos; cada uno merece su propio espacio.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473952"/>
            <a:ext cx="10874959" cy="10973"/>
          </a:xfrm>
          <a:prstGeom prst="rect">
            <a:avLst/>
          </a:prstGeom>
          <a:solidFill>
            <a:srgbClr val="DFE6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Agentes de IA  ·  José Miguel Amaya  ·  Full Day de Comunidades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18927" y="65288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E9BD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PROTOCOLOS · ESTÁNDARES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731520"/>
            <a:ext cx="10874959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36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MCP y A2A no son frameworks</a:t>
            </a:r>
            <a:endParaRPr lang="en-US" sz="3360" dirty="0"/>
          </a:p>
        </p:txBody>
      </p:sp>
      <p:sp>
        <p:nvSpPr>
          <p:cNvPr id="8" name="Text 6"/>
          <p:cNvSpPr/>
          <p:nvPr/>
        </p:nvSpPr>
        <p:spPr>
          <a:xfrm>
            <a:off x="658368" y="1783080"/>
            <a:ext cx="108749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framework construye y orquesta tu agente. Un protocolo es un contrato para conectarlo con el exterior. No compiten: se combinan.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" y="2514600"/>
            <a:ext cx="53003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514600"/>
            <a:ext cx="5300320" cy="73152"/>
          </a:xfrm>
          <a:prstGeom prst="roundRect">
            <a:avLst>
              <a:gd name="adj" fmla="val 37500"/>
            </a:avLst>
          </a:prstGeom>
          <a:solidFill>
            <a:srgbClr val="1E9B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743200"/>
            <a:ext cx="471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9B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MCP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50976" y="3310128"/>
            <a:ext cx="4715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3A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 Context Protocol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50976" y="3675888"/>
            <a:ext cx="47151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un agente se conecta a herramientas y datos. El enchufe universal: describes la tool una vez y cualquier agente la usa.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3008" y="2514600"/>
            <a:ext cx="53003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33008" y="2514600"/>
            <a:ext cx="5300320" cy="73152"/>
          </a:xfrm>
          <a:prstGeom prst="roundRect">
            <a:avLst>
              <a:gd name="adj" fmla="val 37500"/>
            </a:avLst>
          </a:prstGeom>
          <a:solidFill>
            <a:srgbClr val="4FA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25616" y="2743200"/>
            <a:ext cx="471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A8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A2A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525616" y="3310128"/>
            <a:ext cx="4715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3A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Agent-to-Agent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25616" y="3675888"/>
            <a:ext cx="47151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un agente habla con otro agente. Un idioma y una tarjeta de presentación comunes entre agentes.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8368" y="5166360"/>
            <a:ext cx="10874959" cy="731520"/>
          </a:xfrm>
          <a:prstGeom prst="roundRect">
            <a:avLst>
              <a:gd name="adj" fmla="val 10000"/>
            </a:avLst>
          </a:prstGeom>
          <a:solidFill>
            <a:srgbClr val="EAF4FC"/>
          </a:solidFill>
          <a:ln w="12700">
            <a:solidFill>
              <a:srgbClr val="BFE0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5166360"/>
            <a:ext cx="1023487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Framework = cómo construyes tu agente. Protocolo = cómo se conecta con lo demás.</a:t>
            </a:r>
            <a:endParaRPr lang="en-US" sz="14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473952"/>
            <a:ext cx="10874959" cy="10973"/>
          </a:xfrm>
          <a:prstGeom prst="rect">
            <a:avLst/>
          </a:prstGeom>
          <a:solidFill>
            <a:srgbClr val="DFE6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Agentes de IA  ·  José Miguel Amaya  ·  Full Day de Comunidades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18927" y="65288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E9BD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ECOSISTEMA · 2026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731520"/>
            <a:ext cx="10874959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36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Existen más frameworks: elige por filosofía</a:t>
            </a:r>
            <a:endParaRPr lang="en-US" sz="3360" dirty="0"/>
          </a:p>
        </p:txBody>
      </p:sp>
      <p:sp>
        <p:nvSpPr>
          <p:cNvPr id="8" name="Text 6"/>
          <p:cNvSpPr/>
          <p:nvPr/>
        </p:nvSpPr>
        <p:spPr>
          <a:xfrm>
            <a:off x="658368" y="1737360"/>
            <a:ext cx="108749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 viste LangChain y LangGraph. El resto se elige por el problema, no por la moda.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8368" y="2194560"/>
            <a:ext cx="350306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194560"/>
            <a:ext cx="3503066" cy="64008"/>
          </a:xfrm>
          <a:prstGeom prst="roundRect">
            <a:avLst>
              <a:gd name="adj" fmla="val 42857"/>
            </a:avLst>
          </a:prstGeom>
          <a:solidFill>
            <a:srgbClr val="4FA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340864"/>
            <a:ext cx="30641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Roles y equipos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7824" y="2670048"/>
            <a:ext cx="306415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CrewAI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44314" y="2194560"/>
            <a:ext cx="350306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4314" y="2194560"/>
            <a:ext cx="3503066" cy="64008"/>
          </a:xfrm>
          <a:prstGeom prst="roundRect">
            <a:avLst>
              <a:gd name="adj" fmla="val 42857"/>
            </a:avLst>
          </a:prstGeom>
          <a:solidFill>
            <a:srgbClr val="D982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3770" y="2340864"/>
            <a:ext cx="30641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y RAG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63770" y="2670048"/>
            <a:ext cx="306415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LlamaIndex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30261" y="2194560"/>
            <a:ext cx="350306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30261" y="2194560"/>
            <a:ext cx="3503066" cy="64008"/>
          </a:xfrm>
          <a:prstGeom prst="roundRect">
            <a:avLst>
              <a:gd name="adj" fmla="val 42857"/>
            </a:avLst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49717" y="2340864"/>
            <a:ext cx="30641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Tipado y validación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49717" y="2670048"/>
            <a:ext cx="306415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Pydantic AI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8368" y="3200400"/>
            <a:ext cx="350306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3200400"/>
            <a:ext cx="3503066" cy="64008"/>
          </a:xfrm>
          <a:prstGeom prst="roundRect">
            <a:avLst>
              <a:gd name="adj" fmla="val 42857"/>
            </a:avLst>
          </a:prstGeom>
          <a:solidFill>
            <a:srgbClr val="1E9B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3346704"/>
            <a:ext cx="30641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Conversación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77824" y="3675888"/>
            <a:ext cx="306415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AutoGen · Microsoft Agent Framework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44314" y="3200400"/>
            <a:ext cx="350306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44314" y="3200400"/>
            <a:ext cx="3503066" cy="64008"/>
          </a:xfrm>
          <a:prstGeom prst="roundRect">
            <a:avLst>
              <a:gd name="adj" fmla="val 42857"/>
            </a:avLst>
          </a:prstGeom>
          <a:solidFill>
            <a:srgbClr val="122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63770" y="3346704"/>
            <a:ext cx="30641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nube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63770" y="3675888"/>
            <a:ext cx="306415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ADK · Strands · OpenAI SDK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030261" y="3200400"/>
            <a:ext cx="350306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30261" y="3200400"/>
            <a:ext cx="3503066" cy="64008"/>
          </a:xfrm>
          <a:prstGeom prst="roundRect">
            <a:avLst>
              <a:gd name="adj" fmla="val 42857"/>
            </a:avLst>
          </a:prstGeom>
          <a:solidFill>
            <a:srgbClr val="1E9B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9717" y="3346704"/>
            <a:ext cx="30641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Mínimo y TypeScript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49717" y="3675888"/>
            <a:ext cx="306415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F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smolagents · Mastra · Vercel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58368" y="4572000"/>
            <a:ext cx="108749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 a veces la respuesta es ningún framework: el SDK del proveedor y código propio.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473952"/>
            <a:ext cx="10874959" cy="10973"/>
          </a:xfrm>
          <a:prstGeom prst="rect">
            <a:avLst/>
          </a:prstGeom>
          <a:solidFill>
            <a:srgbClr val="2230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C8A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Agentes de IA  ·  José Miguel Amaya  ·  Full Day de Comunidades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18927" y="65288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29ABE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PARA LLEVAR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731520"/>
            <a:ext cx="10874959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36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Cinco ideas</a:t>
            </a:r>
            <a:endParaRPr lang="en-US" sz="3360" dirty="0"/>
          </a:p>
        </p:txBody>
      </p:sp>
      <p:sp>
        <p:nvSpPr>
          <p:cNvPr id="8" name="Text 6"/>
          <p:cNvSpPr/>
          <p:nvPr/>
        </p:nvSpPr>
        <p:spPr>
          <a:xfrm>
            <a:off x="658368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9AB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389888" y="1965960"/>
            <a:ext cx="1005199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C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agente = modelo + herramientas + un bucle con estado.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9AB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89888" y="2743200"/>
            <a:ext cx="1005199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C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modelo propone; tu código ejecuta, bajo tus reglas.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3520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9AB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389888" y="3520440"/>
            <a:ext cx="1005199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C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buena descripción decide cuándo se usa una tool.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8368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9AB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389888" y="4297680"/>
            <a:ext cx="1005199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C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Empieza con create_agent; baja a LangGraph cuando necesites control.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8368" y="5074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9AB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389888" y="5074920"/>
            <a:ext cx="1005199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C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contexto es el recurso escaso: memoria, checkpoints y resúmenes.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965960"/>
            <a:ext cx="1087495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9AB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Gracias.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58368" y="3063240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6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Ya tienes el mapa para construir tu primer agente.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58368" y="3611880"/>
            <a:ext cx="108749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Gracias a GDG Piura por la invitación.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3977640"/>
            <a:ext cx="2743200" cy="45720"/>
          </a:xfrm>
          <a:prstGeom prst="rect">
            <a:avLst/>
          </a:prstGeom>
          <a:solidFill>
            <a:srgbClr val="2A3B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4160520"/>
            <a:ext cx="1087495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José Miguel Amaya Camacho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9AB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linkedin.com/in/miguelamaya99   ·   github.com/joseamaya   ·   joseamaya.github.io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Piura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Agentes de IA: qué son, cómo funcionan y cómo construirlos</dc:title>
  <dc:subject>PptxGenJS Presentation</dc:subject>
  <dc:creator>José Miguel Amaya Camacho</dc:creator>
  <cp:lastModifiedBy>José Miguel Amaya Camacho</cp:lastModifiedBy>
  <cp:revision>1</cp:revision>
  <dcterms:created xsi:type="dcterms:W3CDTF">2026-10-07T16:06:23Z</dcterms:created>
  <dcterms:modified xsi:type="dcterms:W3CDTF">2026-10-07T16:06:23Z</dcterms:modified>
</cp:coreProperties>
</file>